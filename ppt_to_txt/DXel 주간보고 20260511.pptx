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0"/>
  </p:notesMasterIdLst>
  <p:sldIdLst>
    <p:sldId id="260" r:id="rId2"/>
    <p:sldId id="259" r:id="rId3"/>
    <p:sldId id="257" r:id="rId4"/>
    <p:sldId id="258" r:id="rId5"/>
    <p:sldId id="264" r:id="rId6"/>
    <p:sldId id="269" r:id="rId7"/>
    <p:sldId id="276" r:id="rId8"/>
    <p:sldId id="277" r:id="rId9"/>
    <p:sldId id="278" r:id="rId10"/>
    <p:sldId id="266" r:id="rId11"/>
    <p:sldId id="265" r:id="rId12"/>
    <p:sldId id="267" r:id="rId13"/>
    <p:sldId id="279" r:id="rId14"/>
    <p:sldId id="272" r:id="rId15"/>
    <p:sldId id="280" r:id="rId16"/>
    <p:sldId id="281" r:id="rId17"/>
    <p:sldId id="282" r:id="rId18"/>
    <p:sldId id="28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88C0E6-1D06-40DB-AAD6-109634E424F1}" v="3" dt="2026-05-10T14:00:54.4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395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환 신" userId="99a32c448ad6c8d4" providerId="LiveId" clId="{B46572E2-9DDB-4087-843A-F1ABB5EA5E1C}"/>
    <pc:docChg chg="addSld modSld">
      <pc:chgData name="용환 신" userId="99a32c448ad6c8d4" providerId="LiveId" clId="{B46572E2-9DDB-4087-843A-F1ABB5EA5E1C}" dt="2026-05-10T14:00:54.435" v="6"/>
      <pc:docMkLst>
        <pc:docMk/>
      </pc:docMkLst>
      <pc:sldChg chg="add">
        <pc:chgData name="용환 신" userId="99a32c448ad6c8d4" providerId="LiveId" clId="{B46572E2-9DDB-4087-843A-F1ABB5EA5E1C}" dt="2026-05-10T14:00:01.842" v="0"/>
        <pc:sldMkLst>
          <pc:docMk/>
          <pc:sldMk cId="3574907298" sldId="258"/>
        </pc:sldMkLst>
      </pc:sldChg>
      <pc:sldChg chg="modSp mod">
        <pc:chgData name="용환 신" userId="99a32c448ad6c8d4" providerId="LiveId" clId="{B46572E2-9DDB-4087-843A-F1ABB5EA5E1C}" dt="2026-05-10T14:00:07.865" v="4" actId="20577"/>
        <pc:sldMkLst>
          <pc:docMk/>
          <pc:sldMk cId="732371911" sldId="260"/>
        </pc:sldMkLst>
        <pc:graphicFrameChg chg="modGraphic">
          <ac:chgData name="용환 신" userId="99a32c448ad6c8d4" providerId="LiveId" clId="{B46572E2-9DDB-4087-843A-F1ABB5EA5E1C}" dt="2026-05-10T14:00:07.865" v="4" actId="20577"/>
          <ac:graphicFrameMkLst>
            <pc:docMk/>
            <pc:sldMk cId="732371911" sldId="260"/>
            <ac:graphicFrameMk id="6" creationId="{DDADDA9A-2589-DEC7-F050-BFC24F63A290}"/>
          </ac:graphicFrameMkLst>
        </pc:graphicFrameChg>
      </pc:sldChg>
      <pc:sldChg chg="add">
        <pc:chgData name="용환 신" userId="99a32c448ad6c8d4" providerId="LiveId" clId="{B46572E2-9DDB-4087-843A-F1ABB5EA5E1C}" dt="2026-05-10T14:00:01.842" v="0"/>
        <pc:sldMkLst>
          <pc:docMk/>
          <pc:sldMk cId="505356080" sldId="264"/>
        </pc:sldMkLst>
      </pc:sldChg>
      <pc:sldChg chg="add">
        <pc:chgData name="용환 신" userId="99a32c448ad6c8d4" providerId="LiveId" clId="{B46572E2-9DDB-4087-843A-F1ABB5EA5E1C}" dt="2026-05-10T14:00:26.161" v="5"/>
        <pc:sldMkLst>
          <pc:docMk/>
          <pc:sldMk cId="2858953898" sldId="265"/>
        </pc:sldMkLst>
      </pc:sldChg>
      <pc:sldChg chg="add">
        <pc:chgData name="용환 신" userId="99a32c448ad6c8d4" providerId="LiveId" clId="{B46572E2-9DDB-4087-843A-F1ABB5EA5E1C}" dt="2026-05-10T14:00:26.161" v="5"/>
        <pc:sldMkLst>
          <pc:docMk/>
          <pc:sldMk cId="82194923" sldId="266"/>
        </pc:sldMkLst>
      </pc:sldChg>
      <pc:sldChg chg="add">
        <pc:chgData name="용환 신" userId="99a32c448ad6c8d4" providerId="LiveId" clId="{B46572E2-9DDB-4087-843A-F1ABB5EA5E1C}" dt="2026-05-10T14:00:26.161" v="5"/>
        <pc:sldMkLst>
          <pc:docMk/>
          <pc:sldMk cId="1125327884" sldId="267"/>
        </pc:sldMkLst>
      </pc:sldChg>
      <pc:sldChg chg="add">
        <pc:chgData name="용환 신" userId="99a32c448ad6c8d4" providerId="LiveId" clId="{B46572E2-9DDB-4087-843A-F1ABB5EA5E1C}" dt="2026-05-10T14:00:01.842" v="0"/>
        <pc:sldMkLst>
          <pc:docMk/>
          <pc:sldMk cId="2958522230" sldId="269"/>
        </pc:sldMkLst>
      </pc:sldChg>
      <pc:sldChg chg="add">
        <pc:chgData name="용환 신" userId="99a32c448ad6c8d4" providerId="LiveId" clId="{B46572E2-9DDB-4087-843A-F1ABB5EA5E1C}" dt="2026-05-10T14:00:26.161" v="5"/>
        <pc:sldMkLst>
          <pc:docMk/>
          <pc:sldMk cId="2371082890" sldId="272"/>
        </pc:sldMkLst>
      </pc:sldChg>
      <pc:sldChg chg="add">
        <pc:chgData name="용환 신" userId="99a32c448ad6c8d4" providerId="LiveId" clId="{B46572E2-9DDB-4087-843A-F1ABB5EA5E1C}" dt="2026-05-10T14:00:01.842" v="0"/>
        <pc:sldMkLst>
          <pc:docMk/>
          <pc:sldMk cId="1236184248" sldId="276"/>
        </pc:sldMkLst>
      </pc:sldChg>
      <pc:sldChg chg="add">
        <pc:chgData name="용환 신" userId="99a32c448ad6c8d4" providerId="LiveId" clId="{B46572E2-9DDB-4087-843A-F1ABB5EA5E1C}" dt="2026-05-10T14:00:26.161" v="5"/>
        <pc:sldMkLst>
          <pc:docMk/>
          <pc:sldMk cId="1559752" sldId="277"/>
        </pc:sldMkLst>
      </pc:sldChg>
      <pc:sldChg chg="add">
        <pc:chgData name="용환 신" userId="99a32c448ad6c8d4" providerId="LiveId" clId="{B46572E2-9DDB-4087-843A-F1ABB5EA5E1C}" dt="2026-05-10T14:00:26.161" v="5"/>
        <pc:sldMkLst>
          <pc:docMk/>
          <pc:sldMk cId="657044579" sldId="278"/>
        </pc:sldMkLst>
      </pc:sldChg>
      <pc:sldChg chg="add">
        <pc:chgData name="용환 신" userId="99a32c448ad6c8d4" providerId="LiveId" clId="{B46572E2-9DDB-4087-843A-F1ABB5EA5E1C}" dt="2026-05-10T14:00:26.161" v="5"/>
        <pc:sldMkLst>
          <pc:docMk/>
          <pc:sldMk cId="3784660874" sldId="279"/>
        </pc:sldMkLst>
      </pc:sldChg>
      <pc:sldChg chg="add">
        <pc:chgData name="용환 신" userId="99a32c448ad6c8d4" providerId="LiveId" clId="{B46572E2-9DDB-4087-843A-F1ABB5EA5E1C}" dt="2026-05-10T14:00:54.435" v="6"/>
        <pc:sldMkLst>
          <pc:docMk/>
          <pc:sldMk cId="976080894" sldId="280"/>
        </pc:sldMkLst>
      </pc:sldChg>
      <pc:sldChg chg="add">
        <pc:chgData name="용환 신" userId="99a32c448ad6c8d4" providerId="LiveId" clId="{B46572E2-9DDB-4087-843A-F1ABB5EA5E1C}" dt="2026-05-10T14:00:54.435" v="6"/>
        <pc:sldMkLst>
          <pc:docMk/>
          <pc:sldMk cId="1712331905" sldId="281"/>
        </pc:sldMkLst>
      </pc:sldChg>
      <pc:sldChg chg="add">
        <pc:chgData name="용환 신" userId="99a32c448ad6c8d4" providerId="LiveId" clId="{B46572E2-9DDB-4087-843A-F1ABB5EA5E1C}" dt="2026-05-10T14:00:54.435" v="6"/>
        <pc:sldMkLst>
          <pc:docMk/>
          <pc:sldMk cId="8914764" sldId="282"/>
        </pc:sldMkLst>
      </pc:sldChg>
      <pc:sldChg chg="add">
        <pc:chgData name="용환 신" userId="99a32c448ad6c8d4" providerId="LiveId" clId="{B46572E2-9DDB-4087-843A-F1ABB5EA5E1C}" dt="2026-05-10T14:00:54.435" v="6"/>
        <pc:sldMkLst>
          <pc:docMk/>
          <pc:sldMk cId="3470955876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01F55-3897-4059-87DB-4903F784E9B7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65CA58-C1BC-46DA-97C7-C7355A1687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86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6EA94-5C4B-CF37-3B3C-966D2CC4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5DC267-0A0B-C966-E966-02C9B0080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8E21D3-843A-50FA-0E7A-D3AC9EEAD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1AA469-D87C-5594-979A-4CA744BDB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570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59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59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59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D7B3-0785-69F5-CE7A-F89C028E0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689978-CFC7-DC44-A07C-2DCF7902B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C9EBB6-163A-4C3C-7163-EFA8D7D35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56E244-46A2-FF7B-E108-C58532C7E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155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59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C578-E441-6165-E89F-54F46A07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F8BF88-C66B-A2F8-39B2-61956FD68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2DD54E-869C-7864-8EB4-7DC95E49B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A1609B-8EEA-6B9A-8AFD-6C497CE3A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587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2B35-BC73-C55A-57C8-C5E99EDA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80A7E2-6F2B-909F-3008-3DF5DE0B2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01232-DACE-0B70-7988-377585BA5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EAEB96-10D9-A603-E18E-B54C004BA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434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F82E8-6167-8248-B186-CEC3A9A7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197356-A240-5A17-077D-AAB821A13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720580-01D9-8EDD-80A3-560673214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02F1DF-D0C7-F8B1-8392-1A544B52A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1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DDC5D-E86F-2322-6937-43138735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7CE3A2-FB9F-96AB-7A62-C76FF2778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AC1C3E-1334-9B18-C303-C02FB764A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669E85-C278-8B66-AC64-4B0A052A8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01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59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9B28-2B15-84B8-A289-9AE27645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0AC72D-0DCC-39E7-0B0F-882056C61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80061E-2DBB-B9A1-CC0F-24BF4CBE5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EE2ED8-5F6E-F6D0-3D41-50B03AB4B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771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D7B3-0785-69F5-CE7A-F89C028E0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689978-CFC7-DC44-A07C-2DCF7902B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C9EBB6-163A-4C3C-7163-EFA8D7D35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56E244-46A2-FF7B-E108-C58532C7E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155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C1CA-40C3-C3E5-76AA-690F312AA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136418-49BF-BC20-2E41-5D2C332B6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422FBD-9B50-AB19-AF8D-B654E615A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F891E2-5650-8381-DA42-ED5AE9D61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47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V1">
    <p:bg>
      <p:bgPr>
        <a:gradFill flip="none" rotWithShape="1">
          <a:gsLst>
            <a:gs pos="0">
              <a:srgbClr val="003760"/>
            </a:gs>
            <a:gs pos="100000">
              <a:srgbClr val="003760">
                <a:alpha val="4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28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 슬라이더">
    <p:bg>
      <p:bgPr>
        <a:gradFill>
          <a:gsLst>
            <a:gs pos="0">
              <a:srgbClr val="024865"/>
            </a:gs>
            <a:gs pos="100000">
              <a:srgbClr val="024865">
                <a:alpha val="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그래픽, 블랙, 그래픽 디자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E168F9-3C43-9043-E2D6-E1B1F0B515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l="47192" t="3955" b="3682"/>
          <a:stretch/>
        </p:blipFill>
        <p:spPr>
          <a:xfrm>
            <a:off x="-1" y="-1"/>
            <a:ext cx="4443781" cy="6858001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F76EB04-10CC-CF6E-A883-39A88BB7EFB8}"/>
              </a:ext>
            </a:extLst>
          </p:cNvPr>
          <p:cNvCxnSpPr/>
          <p:nvPr userDrawn="1"/>
        </p:nvCxnSpPr>
        <p:spPr>
          <a:xfrm>
            <a:off x="414440" y="1460408"/>
            <a:ext cx="1148591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5E2C6E4-7893-AB02-8F66-94E561DDBE57}"/>
              </a:ext>
            </a:extLst>
          </p:cNvPr>
          <p:cNvSpPr txBox="1"/>
          <p:nvPr userDrawn="1"/>
        </p:nvSpPr>
        <p:spPr>
          <a:xfrm>
            <a:off x="414440" y="582152"/>
            <a:ext cx="79829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36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2CBFD-0D3C-5FFB-A001-F13C3EABE19A}"/>
              </a:ext>
            </a:extLst>
          </p:cNvPr>
          <p:cNvSpPr txBox="1"/>
          <p:nvPr userDrawn="1"/>
        </p:nvSpPr>
        <p:spPr>
          <a:xfrm>
            <a:off x="1440673" y="859151"/>
            <a:ext cx="95218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14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CONTENTS</a:t>
            </a:r>
            <a:endParaRPr lang="ko-KR" altLang="en-US" sz="140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442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목차 슬라이더">
    <p:bg>
      <p:bgPr>
        <a:gradFill>
          <a:gsLst>
            <a:gs pos="0">
              <a:srgbClr val="024865"/>
            </a:gs>
            <a:gs pos="100000">
              <a:srgbClr val="024865">
                <a:alpha val="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그래픽, 블랙, 그래픽 디자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E168F9-3C43-9043-E2D6-E1B1F0B515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l="47192" t="3955" b="3682"/>
          <a:stretch/>
        </p:blipFill>
        <p:spPr>
          <a:xfrm>
            <a:off x="-1" y="-1"/>
            <a:ext cx="4443781" cy="6858001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F76EB04-10CC-CF6E-A883-39A88BB7EFB8}"/>
              </a:ext>
            </a:extLst>
          </p:cNvPr>
          <p:cNvCxnSpPr/>
          <p:nvPr userDrawn="1"/>
        </p:nvCxnSpPr>
        <p:spPr>
          <a:xfrm>
            <a:off x="414440" y="1460408"/>
            <a:ext cx="1148591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67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서브목차 슬라이더">
    <p:bg>
      <p:bgPr>
        <a:gradFill>
          <a:gsLst>
            <a:gs pos="0">
              <a:srgbClr val="024865"/>
            </a:gs>
            <a:gs pos="100000">
              <a:srgbClr val="024865">
                <a:alpha val="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그래픽, 블랙, 그래픽 디자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E168F9-3C43-9043-E2D6-E1B1F0B515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l="47192" t="3955" b="3682"/>
          <a:stretch/>
        </p:blipFill>
        <p:spPr>
          <a:xfrm>
            <a:off x="-1" y="-1"/>
            <a:ext cx="4443781" cy="6858001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2934F13-C6D7-F3FB-2D3D-AED97113733B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114831"/>
            <a:ext cx="580435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개체 틀 1">
            <a:extLst>
              <a:ext uri="{FF2B5EF4-FFF2-40B4-BE49-F238E27FC236}">
                <a16:creationId xmlns:a16="http://schemas.microsoft.com/office/drawing/2014/main" id="{5975AC71-CE14-E951-6A22-4F8C952B5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1" y="3074229"/>
            <a:ext cx="4948550" cy="70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bg1">
                    <a:lumMod val="8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6017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 슬라이드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10E22E6-CD18-9565-D428-717AE53EE391}"/>
              </a:ext>
            </a:extLst>
          </p:cNvPr>
          <p:cNvSpPr/>
          <p:nvPr userDrawn="1"/>
        </p:nvSpPr>
        <p:spPr>
          <a:xfrm>
            <a:off x="53397" y="650449"/>
            <a:ext cx="12067410" cy="5717458"/>
          </a:xfrm>
          <a:prstGeom prst="roundRect">
            <a:avLst>
              <a:gd name="adj" fmla="val 4493"/>
            </a:avLst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63500" dir="5400000" algn="t" rotWithShape="0">
              <a:schemeClr val="bg1">
                <a:lumMod val="85000"/>
                <a:alpha val="70000"/>
              </a:scheme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제목 4">
            <a:extLst>
              <a:ext uri="{FF2B5EF4-FFF2-40B4-BE49-F238E27FC236}">
                <a16:creationId xmlns:a16="http://schemas.microsoft.com/office/drawing/2014/main" id="{B5778057-1F0F-4BD1-7387-009BD1ABF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70714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내용 슬라이드">
    <p:bg>
      <p:bgPr>
        <a:solidFill>
          <a:srgbClr val="E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10E22E6-CD18-9565-D428-717AE53EE391}"/>
              </a:ext>
            </a:extLst>
          </p:cNvPr>
          <p:cNvSpPr/>
          <p:nvPr userDrawn="1"/>
        </p:nvSpPr>
        <p:spPr>
          <a:xfrm>
            <a:off x="66745" y="650449"/>
            <a:ext cx="12034037" cy="5717458"/>
          </a:xfrm>
          <a:prstGeom prst="roundRect">
            <a:avLst>
              <a:gd name="adj" fmla="val 4493"/>
            </a:avLst>
          </a:prstGeom>
          <a:gradFill>
            <a:gsLst>
              <a:gs pos="0">
                <a:srgbClr val="004764"/>
              </a:gs>
              <a:gs pos="100000">
                <a:srgbClr val="004764">
                  <a:alpha val="0"/>
                </a:srgbClr>
              </a:gs>
            </a:gsLst>
            <a:lin ang="5400000" scaled="1"/>
          </a:gradFill>
          <a:ln>
            <a:noFill/>
          </a:ln>
          <a:effectLst>
            <a:outerShdw blurRad="50800" dist="63500" dir="5400000" algn="t" rotWithShape="0">
              <a:schemeClr val="bg1">
                <a:lumMod val="85000"/>
                <a:alpha val="70000"/>
              </a:scheme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제목 4">
            <a:extLst>
              <a:ext uri="{FF2B5EF4-FFF2-40B4-BE49-F238E27FC236}">
                <a16:creationId xmlns:a16="http://schemas.microsoft.com/office/drawing/2014/main" id="{B5778057-1F0F-4BD1-7387-009BD1ABF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lang="ko-KR" altLang="en-US" sz="2400" b="1" dirty="0">
                <a:solidFill>
                  <a:srgbClr val="005E8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25672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제목 4">
            <a:extLst>
              <a:ext uri="{FF2B5EF4-FFF2-40B4-BE49-F238E27FC236}">
                <a16:creationId xmlns:a16="http://schemas.microsoft.com/office/drawing/2014/main" id="{4C128B3B-4DB6-F14D-AB61-D1251AAE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49520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16EE44-F6E0-43AB-5F0B-7B62D9EF45EA}"/>
              </a:ext>
            </a:extLst>
          </p:cNvPr>
          <p:cNvCxnSpPr/>
          <p:nvPr userDrawn="1"/>
        </p:nvCxnSpPr>
        <p:spPr>
          <a:xfrm>
            <a:off x="229385" y="583709"/>
            <a:ext cx="11485916" cy="0"/>
          </a:xfrm>
          <a:prstGeom prst="line">
            <a:avLst/>
          </a:prstGeom>
          <a:ln w="12700">
            <a:gradFill>
              <a:gsLst>
                <a:gs pos="0">
                  <a:schemeClr val="accent6">
                    <a:lumMod val="70000"/>
                    <a:lumOff val="30000"/>
                    <a:alpha val="70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86AD241-026A-1027-C47D-9009059EA920}"/>
              </a:ext>
            </a:extLst>
          </p:cNvPr>
          <p:cNvSpPr/>
          <p:nvPr userDrawn="1"/>
        </p:nvSpPr>
        <p:spPr>
          <a:xfrm>
            <a:off x="73419" y="650449"/>
            <a:ext cx="12060736" cy="5717458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>
            <a:noFill/>
          </a:ln>
          <a:effectLst>
            <a:outerShdw blurRad="50800" dist="63500" dir="5400000" algn="t" rotWithShape="0">
              <a:schemeClr val="bg1">
                <a:lumMod val="85000"/>
                <a:alpha val="70000"/>
              </a:scheme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113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 슬라이드">
    <p:bg>
      <p:bgPr>
        <a:solidFill>
          <a:srgbClr val="E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13C0856-7ACB-AF24-2E46-296CBF956C52}"/>
              </a:ext>
            </a:extLst>
          </p:cNvPr>
          <p:cNvSpPr/>
          <p:nvPr userDrawn="1"/>
        </p:nvSpPr>
        <p:spPr>
          <a:xfrm>
            <a:off x="73419" y="650449"/>
            <a:ext cx="12040712" cy="5788058"/>
          </a:xfrm>
          <a:prstGeom prst="rect">
            <a:avLst/>
          </a:prstGeom>
          <a:gradFill>
            <a:gsLst>
              <a:gs pos="0">
                <a:srgbClr val="004764"/>
              </a:gs>
              <a:gs pos="100000">
                <a:srgbClr val="004764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3" name="제목 4">
            <a:extLst>
              <a:ext uri="{FF2B5EF4-FFF2-40B4-BE49-F238E27FC236}">
                <a16:creationId xmlns:a16="http://schemas.microsoft.com/office/drawing/2014/main" id="{A8864AA6-95C6-4ABC-DD4D-A75C5613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5E8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81338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내용 슬라이드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13C0856-7ACB-AF24-2E46-296CBF956C52}"/>
              </a:ext>
            </a:extLst>
          </p:cNvPr>
          <p:cNvSpPr/>
          <p:nvPr userDrawn="1"/>
        </p:nvSpPr>
        <p:spPr>
          <a:xfrm>
            <a:off x="73419" y="650449"/>
            <a:ext cx="12034038" cy="5788058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3" name="제목 4">
            <a:extLst>
              <a:ext uri="{FF2B5EF4-FFF2-40B4-BE49-F238E27FC236}">
                <a16:creationId xmlns:a16="http://schemas.microsoft.com/office/drawing/2014/main" id="{A8864AA6-95C6-4ABC-DD4D-A75C5613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47705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내용 슬라이드">
    <p:bg>
      <p:bgPr>
        <a:solidFill>
          <a:srgbClr val="E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13C0856-7ACB-AF24-2E46-296CBF956C52}"/>
              </a:ext>
            </a:extLst>
          </p:cNvPr>
          <p:cNvSpPr/>
          <p:nvPr userDrawn="1"/>
        </p:nvSpPr>
        <p:spPr>
          <a:xfrm>
            <a:off x="0" y="650449"/>
            <a:ext cx="12191998" cy="5788058"/>
          </a:xfrm>
          <a:prstGeom prst="rect">
            <a:avLst/>
          </a:prstGeom>
          <a:gradFill>
            <a:gsLst>
              <a:gs pos="0">
                <a:srgbClr val="004764"/>
              </a:gs>
              <a:gs pos="100000">
                <a:srgbClr val="004764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3" name="제목 4">
            <a:extLst>
              <a:ext uri="{FF2B5EF4-FFF2-40B4-BE49-F238E27FC236}">
                <a16:creationId xmlns:a16="http://schemas.microsoft.com/office/drawing/2014/main" id="{A74B9B72-975D-D3B2-5B15-E32AD9E5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5E8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11199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내용 슬라이드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13C0856-7ACB-AF24-2E46-296CBF956C52}"/>
              </a:ext>
            </a:extLst>
          </p:cNvPr>
          <p:cNvSpPr/>
          <p:nvPr userDrawn="1"/>
        </p:nvSpPr>
        <p:spPr>
          <a:xfrm>
            <a:off x="0" y="650449"/>
            <a:ext cx="12191998" cy="5788058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3" name="제목 4">
            <a:extLst>
              <a:ext uri="{FF2B5EF4-FFF2-40B4-BE49-F238E27FC236}">
                <a16:creationId xmlns:a16="http://schemas.microsoft.com/office/drawing/2014/main" id="{A8864AA6-95C6-4ABC-DD4D-A75C5613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68923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ZoneTexte 7">
            <a:extLst>
              <a:ext uri="{FF2B5EF4-FFF2-40B4-BE49-F238E27FC236}">
                <a16:creationId xmlns:a16="http://schemas.microsoft.com/office/drawing/2014/main" id="{F7565AA9-0535-714B-905F-9E644D5DFA04}"/>
              </a:ext>
            </a:extLst>
          </p:cNvPr>
          <p:cNvSpPr txBox="1"/>
          <p:nvPr userDrawn="1"/>
        </p:nvSpPr>
        <p:spPr>
          <a:xfrm>
            <a:off x="1" y="6460735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ko-KR"/>
            </a:defPPr>
            <a:lvl1pPr algn="ctr">
              <a:defRPr sz="1067" baseline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pPr lvl="0"/>
            <a:fld id="{984FB007-5C84-F347-A76E-037DFFA5CC99}" type="slidenum">
              <a:rPr lang="en-US" noProof="0" smtClean="0"/>
              <a:pPr lvl="0"/>
              <a:t>‹#›</a:t>
            </a:fld>
            <a:endParaRPr lang="en-US" noProof="0"/>
          </a:p>
        </p:txBody>
      </p:sp>
      <p:sp>
        <p:nvSpPr>
          <p:cNvPr id="12" name="직사각형 11"/>
          <p:cNvSpPr/>
          <p:nvPr userDrawn="1"/>
        </p:nvSpPr>
        <p:spPr>
          <a:xfrm>
            <a:off x="0" y="1574800"/>
            <a:ext cx="822960" cy="365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801"/>
              </a:spcBef>
            </a:pPr>
            <a:endParaRPr lang="ko-KR" altLang="en-US" sz="16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Freeform: Shape 22">
            <a:extLst>
              <a:ext uri="{FF2B5EF4-FFF2-40B4-BE49-F238E27FC236}">
                <a16:creationId xmlns:a16="http://schemas.microsoft.com/office/drawing/2014/main" id="{FDBE1D06-C395-24AE-4920-3DD2AD828565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7368535" y="2"/>
            <a:ext cx="4823469" cy="4796287"/>
          </a:xfrm>
          <a:custGeom>
            <a:avLst/>
            <a:gdLst>
              <a:gd name="connsiteX0" fmla="*/ 4757495 w 5851025"/>
              <a:gd name="connsiteY0" fmla="*/ 0 h 5819568"/>
              <a:gd name="connsiteX1" fmla="*/ 5529880 w 5851025"/>
              <a:gd name="connsiteY1" fmla="*/ 316157 h 5819568"/>
              <a:gd name="connsiteX2" fmla="*/ 5529880 w 5851025"/>
              <a:gd name="connsiteY2" fmla="*/ 1853896 h 5819568"/>
              <a:gd name="connsiteX3" fmla="*/ 5529675 w 5851025"/>
              <a:gd name="connsiteY3" fmla="*/ 1854082 h 5819568"/>
              <a:gd name="connsiteX4" fmla="*/ 5529737 w 5851025"/>
              <a:gd name="connsiteY4" fmla="*/ 1854144 h 5819568"/>
              <a:gd name="connsiteX5" fmla="*/ 1564312 w 5851025"/>
              <a:gd name="connsiteY5" fmla="*/ 5819568 h 5819568"/>
              <a:gd name="connsiteX6" fmla="*/ 0 w 5851025"/>
              <a:gd name="connsiteY6" fmla="*/ 5819568 h 5819568"/>
              <a:gd name="connsiteX7" fmla="*/ 0 w 5851025"/>
              <a:gd name="connsiteY7" fmla="*/ 4299415 h 5819568"/>
              <a:gd name="connsiteX8" fmla="*/ 3986608 w 5851025"/>
              <a:gd name="connsiteY8" fmla="*/ 319427 h 5819568"/>
              <a:gd name="connsiteX9" fmla="*/ 3989570 w 5851025"/>
              <a:gd name="connsiteY9" fmla="*/ 316157 h 5819568"/>
              <a:gd name="connsiteX10" fmla="*/ 4757495 w 5851025"/>
              <a:gd name="connsiteY10" fmla="*/ 0 h 581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1025" h="5819568">
                <a:moveTo>
                  <a:pt x="4757495" y="0"/>
                </a:moveTo>
                <a:cubicBezTo>
                  <a:pt x="5036267" y="0"/>
                  <a:pt x="5315783" y="105385"/>
                  <a:pt x="5529880" y="316157"/>
                </a:cubicBezTo>
                <a:cubicBezTo>
                  <a:pt x="5958074" y="743636"/>
                  <a:pt x="5958074" y="1432354"/>
                  <a:pt x="5529880" y="1853896"/>
                </a:cubicBezTo>
                <a:lnTo>
                  <a:pt x="5529675" y="1854082"/>
                </a:lnTo>
                <a:lnTo>
                  <a:pt x="5529737" y="1854144"/>
                </a:lnTo>
                <a:lnTo>
                  <a:pt x="1564312" y="5819568"/>
                </a:lnTo>
                <a:lnTo>
                  <a:pt x="0" y="5819568"/>
                </a:lnTo>
                <a:lnTo>
                  <a:pt x="0" y="4299415"/>
                </a:lnTo>
                <a:lnTo>
                  <a:pt x="3986608" y="319427"/>
                </a:lnTo>
                <a:lnTo>
                  <a:pt x="3989570" y="316157"/>
                </a:lnTo>
                <a:cubicBezTo>
                  <a:pt x="4200694" y="105385"/>
                  <a:pt x="4478723" y="0"/>
                  <a:pt x="4757495" y="0"/>
                </a:cubicBezTo>
                <a:close/>
              </a:path>
            </a:pathLst>
          </a:custGeom>
          <a:solidFill>
            <a:srgbClr val="175791">
              <a:alpha val="12000"/>
            </a:srgbClr>
          </a:solidFill>
          <a:ln w="9525">
            <a:noFill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 sz="2401"/>
          </a:p>
        </p:txBody>
      </p:sp>
      <p:sp>
        <p:nvSpPr>
          <p:cNvPr id="15" name="Freeform: Shape 22">
            <a:extLst>
              <a:ext uri="{FF2B5EF4-FFF2-40B4-BE49-F238E27FC236}">
                <a16:creationId xmlns:a16="http://schemas.microsoft.com/office/drawing/2014/main" id="{F7D5DFA0-E984-BF3C-4098-9F9D1B08B5DF}"/>
              </a:ext>
            </a:extLst>
          </p:cNvPr>
          <p:cNvSpPr>
            <a:spLocks/>
          </p:cNvSpPr>
          <p:nvPr userDrawn="1"/>
        </p:nvSpPr>
        <p:spPr bwMode="auto">
          <a:xfrm>
            <a:off x="2" y="2061715"/>
            <a:ext cx="4823469" cy="4796287"/>
          </a:xfrm>
          <a:custGeom>
            <a:avLst/>
            <a:gdLst>
              <a:gd name="connsiteX0" fmla="*/ 4757495 w 5851025"/>
              <a:gd name="connsiteY0" fmla="*/ 0 h 5819568"/>
              <a:gd name="connsiteX1" fmla="*/ 5529880 w 5851025"/>
              <a:gd name="connsiteY1" fmla="*/ 316157 h 5819568"/>
              <a:gd name="connsiteX2" fmla="*/ 5529880 w 5851025"/>
              <a:gd name="connsiteY2" fmla="*/ 1853896 h 5819568"/>
              <a:gd name="connsiteX3" fmla="*/ 5529675 w 5851025"/>
              <a:gd name="connsiteY3" fmla="*/ 1854082 h 5819568"/>
              <a:gd name="connsiteX4" fmla="*/ 5529737 w 5851025"/>
              <a:gd name="connsiteY4" fmla="*/ 1854144 h 5819568"/>
              <a:gd name="connsiteX5" fmla="*/ 1564312 w 5851025"/>
              <a:gd name="connsiteY5" fmla="*/ 5819568 h 5819568"/>
              <a:gd name="connsiteX6" fmla="*/ 0 w 5851025"/>
              <a:gd name="connsiteY6" fmla="*/ 5819568 h 5819568"/>
              <a:gd name="connsiteX7" fmla="*/ 0 w 5851025"/>
              <a:gd name="connsiteY7" fmla="*/ 4299415 h 5819568"/>
              <a:gd name="connsiteX8" fmla="*/ 3986608 w 5851025"/>
              <a:gd name="connsiteY8" fmla="*/ 319427 h 5819568"/>
              <a:gd name="connsiteX9" fmla="*/ 3989570 w 5851025"/>
              <a:gd name="connsiteY9" fmla="*/ 316157 h 5819568"/>
              <a:gd name="connsiteX10" fmla="*/ 4757495 w 5851025"/>
              <a:gd name="connsiteY10" fmla="*/ 0 h 581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1025" h="5819568">
                <a:moveTo>
                  <a:pt x="4757495" y="0"/>
                </a:moveTo>
                <a:cubicBezTo>
                  <a:pt x="5036267" y="0"/>
                  <a:pt x="5315783" y="105385"/>
                  <a:pt x="5529880" y="316157"/>
                </a:cubicBezTo>
                <a:cubicBezTo>
                  <a:pt x="5958074" y="743636"/>
                  <a:pt x="5958074" y="1432354"/>
                  <a:pt x="5529880" y="1853896"/>
                </a:cubicBezTo>
                <a:lnTo>
                  <a:pt x="5529675" y="1854082"/>
                </a:lnTo>
                <a:lnTo>
                  <a:pt x="5529737" y="1854144"/>
                </a:lnTo>
                <a:lnTo>
                  <a:pt x="1564312" y="5819568"/>
                </a:lnTo>
                <a:lnTo>
                  <a:pt x="0" y="5819568"/>
                </a:lnTo>
                <a:lnTo>
                  <a:pt x="0" y="4299415"/>
                </a:lnTo>
                <a:lnTo>
                  <a:pt x="3986608" y="319427"/>
                </a:lnTo>
                <a:lnTo>
                  <a:pt x="3989570" y="316157"/>
                </a:lnTo>
                <a:cubicBezTo>
                  <a:pt x="4200694" y="105385"/>
                  <a:pt x="4478723" y="0"/>
                  <a:pt x="4757495" y="0"/>
                </a:cubicBezTo>
                <a:close/>
              </a:path>
            </a:pathLst>
          </a:custGeom>
          <a:solidFill>
            <a:srgbClr val="175791">
              <a:alpha val="12000"/>
            </a:srgbClr>
          </a:solidFill>
          <a:ln w="9525">
            <a:noFill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 sz="2401"/>
          </a:p>
        </p:txBody>
      </p:sp>
    </p:spTree>
    <p:extLst>
      <p:ext uri="{BB962C8B-B14F-4D97-AF65-F5344CB8AC3E}">
        <p14:creationId xmlns:p14="http://schemas.microsoft.com/office/powerpoint/2010/main" val="47077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572E088-B664-56BD-BFE0-1C1FAC956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7" name="ZoneTexte 7">
            <a:extLst>
              <a:ext uri="{FF2B5EF4-FFF2-40B4-BE49-F238E27FC236}">
                <a16:creationId xmlns:a16="http://schemas.microsoft.com/office/drawing/2014/main" id="{F7565AA9-0535-714B-905F-9E644D5DFA04}"/>
              </a:ext>
            </a:extLst>
          </p:cNvPr>
          <p:cNvSpPr txBox="1"/>
          <p:nvPr userDrawn="1"/>
        </p:nvSpPr>
        <p:spPr>
          <a:xfrm>
            <a:off x="1" y="6460735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ko-KR"/>
            </a:defPPr>
            <a:lvl1pPr algn="ctr">
              <a:defRPr sz="1067" baseline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pPr lvl="0"/>
            <a:fld id="{984FB007-5C84-F347-A76E-037DFFA5CC99}" type="slidenum">
              <a:rPr lang="en-US" noProof="0" smtClean="0"/>
              <a:pPr lvl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79297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ck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그래픽, 블랙, 그래픽 디자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E168F9-3C43-9043-E2D6-E1B1F0B515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7192" t="3955" b="3682"/>
          <a:stretch/>
        </p:blipFill>
        <p:spPr>
          <a:xfrm>
            <a:off x="-1" y="-1"/>
            <a:ext cx="4443781" cy="6858001"/>
          </a:xfrm>
          <a:prstGeom prst="rect">
            <a:avLst/>
          </a:prstGeom>
        </p:spPr>
      </p:pic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460735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22BE5287-182A-8570-FBD8-E01018A2B599}"/>
              </a:ext>
            </a:extLst>
          </p:cNvPr>
          <p:cNvSpPr/>
          <p:nvPr userDrawn="1"/>
        </p:nvSpPr>
        <p:spPr>
          <a:xfrm>
            <a:off x="-7621" y="-1"/>
            <a:ext cx="12199620" cy="6055360"/>
          </a:xfrm>
          <a:custGeom>
            <a:avLst/>
            <a:gdLst>
              <a:gd name="connsiteX0" fmla="*/ 4863912 w 12215791"/>
              <a:gd name="connsiteY0" fmla="*/ 3160618 h 6878320"/>
              <a:gd name="connsiteX1" fmla="*/ 4869884 w 12215791"/>
              <a:gd name="connsiteY1" fmla="*/ 3160618 h 6878320"/>
              <a:gd name="connsiteX2" fmla="*/ 4951497 w 12215791"/>
              <a:gd name="connsiteY2" fmla="*/ 3419393 h 6878320"/>
              <a:gd name="connsiteX3" fmla="*/ 4782298 w 12215791"/>
              <a:gd name="connsiteY3" fmla="*/ 3419393 h 6878320"/>
              <a:gd name="connsiteX4" fmla="*/ 4863912 w 12215791"/>
              <a:gd name="connsiteY4" fmla="*/ 3160618 h 6878320"/>
              <a:gd name="connsiteX5" fmla="*/ 7991526 w 12215791"/>
              <a:gd name="connsiteY5" fmla="*/ 3121802 h 6878320"/>
              <a:gd name="connsiteX6" fmla="*/ 8115874 w 12215791"/>
              <a:gd name="connsiteY6" fmla="*/ 3178347 h 6878320"/>
              <a:gd name="connsiteX7" fmla="*/ 8160725 w 12215791"/>
              <a:gd name="connsiteY7" fmla="*/ 3342756 h 6878320"/>
              <a:gd name="connsiteX8" fmla="*/ 8115874 w 12215791"/>
              <a:gd name="connsiteY8" fmla="*/ 3506978 h 6878320"/>
              <a:gd name="connsiteX9" fmla="*/ 7991526 w 12215791"/>
              <a:gd name="connsiteY9" fmla="*/ 3563710 h 6878320"/>
              <a:gd name="connsiteX10" fmla="*/ 7867550 w 12215791"/>
              <a:gd name="connsiteY10" fmla="*/ 3506978 h 6878320"/>
              <a:gd name="connsiteX11" fmla="*/ 7822326 w 12215791"/>
              <a:gd name="connsiteY11" fmla="*/ 3342756 h 6878320"/>
              <a:gd name="connsiteX12" fmla="*/ 7867550 w 12215791"/>
              <a:gd name="connsiteY12" fmla="*/ 3178347 h 6878320"/>
              <a:gd name="connsiteX13" fmla="*/ 7991526 w 12215791"/>
              <a:gd name="connsiteY13" fmla="*/ 3121802 h 6878320"/>
              <a:gd name="connsiteX14" fmla="*/ 8439154 w 12215791"/>
              <a:gd name="connsiteY14" fmla="*/ 2982462 h 6878320"/>
              <a:gd name="connsiteX15" fmla="*/ 8439154 w 12215791"/>
              <a:gd name="connsiteY15" fmla="*/ 3447261 h 6878320"/>
              <a:gd name="connsiteX16" fmla="*/ 8477270 w 12215791"/>
              <a:gd name="connsiteY16" fmla="*/ 3587707 h 6878320"/>
              <a:gd name="connsiteX17" fmla="*/ 8582844 w 12215791"/>
              <a:gd name="connsiteY17" fmla="*/ 3679716 h 6878320"/>
              <a:gd name="connsiteX18" fmla="*/ 8742716 w 12215791"/>
              <a:gd name="connsiteY18" fmla="*/ 3713003 h 6878320"/>
              <a:gd name="connsiteX19" fmla="*/ 8901926 w 12215791"/>
              <a:gd name="connsiteY19" fmla="*/ 3679716 h 6878320"/>
              <a:gd name="connsiteX20" fmla="*/ 9007832 w 12215791"/>
              <a:gd name="connsiteY20" fmla="*/ 3587707 h 6878320"/>
              <a:gd name="connsiteX21" fmla="*/ 9046280 w 12215791"/>
              <a:gd name="connsiteY21" fmla="*/ 3447261 h 6878320"/>
              <a:gd name="connsiteX22" fmla="*/ 9046280 w 12215791"/>
              <a:gd name="connsiteY22" fmla="*/ 2982462 h 6878320"/>
              <a:gd name="connsiteX23" fmla="*/ 8876086 w 12215791"/>
              <a:gd name="connsiteY23" fmla="*/ 2982462 h 6878320"/>
              <a:gd name="connsiteX24" fmla="*/ 8876086 w 12215791"/>
              <a:gd name="connsiteY24" fmla="*/ 3433327 h 6878320"/>
              <a:gd name="connsiteX25" fmla="*/ 8839446 w 12215791"/>
              <a:gd name="connsiteY25" fmla="*/ 3527568 h 6878320"/>
              <a:gd name="connsiteX26" fmla="*/ 8742716 w 12215791"/>
              <a:gd name="connsiteY26" fmla="*/ 3564705 h 6878320"/>
              <a:gd name="connsiteX27" fmla="*/ 8645490 w 12215791"/>
              <a:gd name="connsiteY27" fmla="*/ 3527568 h 6878320"/>
              <a:gd name="connsiteX28" fmla="*/ 8608353 w 12215791"/>
              <a:gd name="connsiteY28" fmla="*/ 3433327 h 6878320"/>
              <a:gd name="connsiteX29" fmla="*/ 8608353 w 12215791"/>
              <a:gd name="connsiteY29" fmla="*/ 2982462 h 6878320"/>
              <a:gd name="connsiteX30" fmla="*/ 8439154 w 12215791"/>
              <a:gd name="connsiteY30" fmla="*/ 2982462 h 6878320"/>
              <a:gd name="connsiteX31" fmla="*/ 6886858 w 12215791"/>
              <a:gd name="connsiteY31" fmla="*/ 2982462 h 6878320"/>
              <a:gd name="connsiteX32" fmla="*/ 7150609 w 12215791"/>
              <a:gd name="connsiteY32" fmla="*/ 3459205 h 6878320"/>
              <a:gd name="connsiteX33" fmla="*/ 7150609 w 12215791"/>
              <a:gd name="connsiteY33" fmla="*/ 3703050 h 6878320"/>
              <a:gd name="connsiteX34" fmla="*/ 7319808 w 12215791"/>
              <a:gd name="connsiteY34" fmla="*/ 3703050 h 6878320"/>
              <a:gd name="connsiteX35" fmla="*/ 7319808 w 12215791"/>
              <a:gd name="connsiteY35" fmla="*/ 3459205 h 6878320"/>
              <a:gd name="connsiteX36" fmla="*/ 7582565 w 12215791"/>
              <a:gd name="connsiteY36" fmla="*/ 2982462 h 6878320"/>
              <a:gd name="connsiteX37" fmla="*/ 7393460 w 12215791"/>
              <a:gd name="connsiteY37" fmla="*/ 2982462 h 6878320"/>
              <a:gd name="connsiteX38" fmla="*/ 7238195 w 12215791"/>
              <a:gd name="connsiteY38" fmla="*/ 3285029 h 6878320"/>
              <a:gd name="connsiteX39" fmla="*/ 7232223 w 12215791"/>
              <a:gd name="connsiteY39" fmla="*/ 3285029 h 6878320"/>
              <a:gd name="connsiteX40" fmla="*/ 7076958 w 12215791"/>
              <a:gd name="connsiteY40" fmla="*/ 2982462 h 6878320"/>
              <a:gd name="connsiteX41" fmla="*/ 6886858 w 12215791"/>
              <a:gd name="connsiteY41" fmla="*/ 2982462 h 6878320"/>
              <a:gd name="connsiteX42" fmla="*/ 6019804 w 12215791"/>
              <a:gd name="connsiteY42" fmla="*/ 2982462 h 6878320"/>
              <a:gd name="connsiteX43" fmla="*/ 6019804 w 12215791"/>
              <a:gd name="connsiteY43" fmla="*/ 3703050 h 6878320"/>
              <a:gd name="connsiteX44" fmla="*/ 6189003 w 12215791"/>
              <a:gd name="connsiteY44" fmla="*/ 3703050 h 6878320"/>
              <a:gd name="connsiteX45" fmla="*/ 6189003 w 12215791"/>
              <a:gd name="connsiteY45" fmla="*/ 3505983 h 6878320"/>
              <a:gd name="connsiteX46" fmla="*/ 6260664 w 12215791"/>
              <a:gd name="connsiteY46" fmla="*/ 3417403 h 6878320"/>
              <a:gd name="connsiteX47" fmla="*/ 6442801 w 12215791"/>
              <a:gd name="connsiteY47" fmla="*/ 3703050 h 6878320"/>
              <a:gd name="connsiteX48" fmla="*/ 6645840 w 12215791"/>
              <a:gd name="connsiteY48" fmla="*/ 3703050 h 6878320"/>
              <a:gd name="connsiteX49" fmla="*/ 6384079 w 12215791"/>
              <a:gd name="connsiteY49" fmla="*/ 3303940 h 6878320"/>
              <a:gd name="connsiteX50" fmla="*/ 6641859 w 12215791"/>
              <a:gd name="connsiteY50" fmla="*/ 2982462 h 6878320"/>
              <a:gd name="connsiteX51" fmla="*/ 6440811 w 12215791"/>
              <a:gd name="connsiteY51" fmla="*/ 2982462 h 6878320"/>
              <a:gd name="connsiteX52" fmla="*/ 6198956 w 12215791"/>
              <a:gd name="connsiteY52" fmla="*/ 3290006 h 6878320"/>
              <a:gd name="connsiteX53" fmla="*/ 6189003 w 12215791"/>
              <a:gd name="connsiteY53" fmla="*/ 3290006 h 6878320"/>
              <a:gd name="connsiteX54" fmla="*/ 6189003 w 12215791"/>
              <a:gd name="connsiteY54" fmla="*/ 2982462 h 6878320"/>
              <a:gd name="connsiteX55" fmla="*/ 6019804 w 12215791"/>
              <a:gd name="connsiteY55" fmla="*/ 2982462 h 6878320"/>
              <a:gd name="connsiteX56" fmla="*/ 5295904 w 12215791"/>
              <a:gd name="connsiteY56" fmla="*/ 2982462 h 6878320"/>
              <a:gd name="connsiteX57" fmla="*/ 5295904 w 12215791"/>
              <a:gd name="connsiteY57" fmla="*/ 3703050 h 6878320"/>
              <a:gd name="connsiteX58" fmla="*/ 5465103 w 12215791"/>
              <a:gd name="connsiteY58" fmla="*/ 3703050 h 6878320"/>
              <a:gd name="connsiteX59" fmla="*/ 5465103 w 12215791"/>
              <a:gd name="connsiteY59" fmla="*/ 3280053 h 6878320"/>
              <a:gd name="connsiteX60" fmla="*/ 5470079 w 12215791"/>
              <a:gd name="connsiteY60" fmla="*/ 3280053 h 6878320"/>
              <a:gd name="connsiteX61" fmla="*/ 5762694 w 12215791"/>
              <a:gd name="connsiteY61" fmla="*/ 3703050 h 6878320"/>
              <a:gd name="connsiteX62" fmla="*/ 5907012 w 12215791"/>
              <a:gd name="connsiteY62" fmla="*/ 3703050 h 6878320"/>
              <a:gd name="connsiteX63" fmla="*/ 5907012 w 12215791"/>
              <a:gd name="connsiteY63" fmla="*/ 2982462 h 6878320"/>
              <a:gd name="connsiteX64" fmla="*/ 5737812 w 12215791"/>
              <a:gd name="connsiteY64" fmla="*/ 2982462 h 6878320"/>
              <a:gd name="connsiteX65" fmla="*/ 5737812 w 12215791"/>
              <a:gd name="connsiteY65" fmla="*/ 3405459 h 6878320"/>
              <a:gd name="connsiteX66" fmla="*/ 5731840 w 12215791"/>
              <a:gd name="connsiteY66" fmla="*/ 3405459 h 6878320"/>
              <a:gd name="connsiteX67" fmla="*/ 5442211 w 12215791"/>
              <a:gd name="connsiteY67" fmla="*/ 2982462 h 6878320"/>
              <a:gd name="connsiteX68" fmla="*/ 5295904 w 12215791"/>
              <a:gd name="connsiteY68" fmla="*/ 2982462 h 6878320"/>
              <a:gd name="connsiteX69" fmla="*/ 4754430 w 12215791"/>
              <a:gd name="connsiteY69" fmla="*/ 2982462 h 6878320"/>
              <a:gd name="connsiteX70" fmla="*/ 4509589 w 12215791"/>
              <a:gd name="connsiteY70" fmla="*/ 3703050 h 6878320"/>
              <a:gd name="connsiteX71" fmla="*/ 4692722 w 12215791"/>
              <a:gd name="connsiteY71" fmla="*/ 3703050 h 6878320"/>
              <a:gd name="connsiteX72" fmla="*/ 4741492 w 12215791"/>
              <a:gd name="connsiteY72" fmla="*/ 3548781 h 6878320"/>
              <a:gd name="connsiteX73" fmla="*/ 4992304 w 12215791"/>
              <a:gd name="connsiteY73" fmla="*/ 3548781 h 6878320"/>
              <a:gd name="connsiteX74" fmla="*/ 5041073 w 12215791"/>
              <a:gd name="connsiteY74" fmla="*/ 3703050 h 6878320"/>
              <a:gd name="connsiteX75" fmla="*/ 5223211 w 12215791"/>
              <a:gd name="connsiteY75" fmla="*/ 3703050 h 6878320"/>
              <a:gd name="connsiteX76" fmla="*/ 4979365 w 12215791"/>
              <a:gd name="connsiteY76" fmla="*/ 2982462 h 6878320"/>
              <a:gd name="connsiteX77" fmla="*/ 4754430 w 12215791"/>
              <a:gd name="connsiteY77" fmla="*/ 2982462 h 6878320"/>
              <a:gd name="connsiteX78" fmla="*/ 3810004 w 12215791"/>
              <a:gd name="connsiteY78" fmla="*/ 2982462 h 6878320"/>
              <a:gd name="connsiteX79" fmla="*/ 3810004 w 12215791"/>
              <a:gd name="connsiteY79" fmla="*/ 3703050 h 6878320"/>
              <a:gd name="connsiteX80" fmla="*/ 3979203 w 12215791"/>
              <a:gd name="connsiteY80" fmla="*/ 3703050 h 6878320"/>
              <a:gd name="connsiteX81" fmla="*/ 3979203 w 12215791"/>
              <a:gd name="connsiteY81" fmla="*/ 3411431 h 6878320"/>
              <a:gd name="connsiteX82" fmla="*/ 4268832 w 12215791"/>
              <a:gd name="connsiteY82" fmla="*/ 3411431 h 6878320"/>
              <a:gd name="connsiteX83" fmla="*/ 4268832 w 12215791"/>
              <a:gd name="connsiteY83" fmla="*/ 3703050 h 6878320"/>
              <a:gd name="connsiteX84" fmla="*/ 4438031 w 12215791"/>
              <a:gd name="connsiteY84" fmla="*/ 3703050 h 6878320"/>
              <a:gd name="connsiteX85" fmla="*/ 4438031 w 12215791"/>
              <a:gd name="connsiteY85" fmla="*/ 2982462 h 6878320"/>
              <a:gd name="connsiteX86" fmla="*/ 4268832 w 12215791"/>
              <a:gd name="connsiteY86" fmla="*/ 2982462 h 6878320"/>
              <a:gd name="connsiteX87" fmla="*/ 4268832 w 12215791"/>
              <a:gd name="connsiteY87" fmla="*/ 3273086 h 6878320"/>
              <a:gd name="connsiteX88" fmla="*/ 3979203 w 12215791"/>
              <a:gd name="connsiteY88" fmla="*/ 3273086 h 6878320"/>
              <a:gd name="connsiteX89" fmla="*/ 3979203 w 12215791"/>
              <a:gd name="connsiteY89" fmla="*/ 2982462 h 6878320"/>
              <a:gd name="connsiteX90" fmla="*/ 3810004 w 12215791"/>
              <a:gd name="connsiteY90" fmla="*/ 2982462 h 6878320"/>
              <a:gd name="connsiteX91" fmla="*/ 3118372 w 12215791"/>
              <a:gd name="connsiteY91" fmla="*/ 2982462 h 6878320"/>
              <a:gd name="connsiteX92" fmla="*/ 3118372 w 12215791"/>
              <a:gd name="connsiteY92" fmla="*/ 3120807 h 6878320"/>
              <a:gd name="connsiteX93" fmla="*/ 3337335 w 12215791"/>
              <a:gd name="connsiteY93" fmla="*/ 3120807 h 6878320"/>
              <a:gd name="connsiteX94" fmla="*/ 3337335 w 12215791"/>
              <a:gd name="connsiteY94" fmla="*/ 3703050 h 6878320"/>
              <a:gd name="connsiteX95" fmla="*/ 3505539 w 12215791"/>
              <a:gd name="connsiteY95" fmla="*/ 3703050 h 6878320"/>
              <a:gd name="connsiteX96" fmla="*/ 3505539 w 12215791"/>
              <a:gd name="connsiteY96" fmla="*/ 3120807 h 6878320"/>
              <a:gd name="connsiteX97" fmla="*/ 3724503 w 12215791"/>
              <a:gd name="connsiteY97" fmla="*/ 3120807 h 6878320"/>
              <a:gd name="connsiteX98" fmla="*/ 3724503 w 12215791"/>
              <a:gd name="connsiteY98" fmla="*/ 2982462 h 6878320"/>
              <a:gd name="connsiteX99" fmla="*/ 3118372 w 12215791"/>
              <a:gd name="connsiteY99" fmla="*/ 2982462 h 6878320"/>
              <a:gd name="connsiteX100" fmla="*/ 7991526 w 12215791"/>
              <a:gd name="connsiteY100" fmla="*/ 2972509 h 6878320"/>
              <a:gd name="connsiteX101" fmla="*/ 7816503 w 12215791"/>
              <a:gd name="connsiteY101" fmla="*/ 3015638 h 6878320"/>
              <a:gd name="connsiteX102" fmla="*/ 7694782 w 12215791"/>
              <a:gd name="connsiteY102" fmla="*/ 3141044 h 6878320"/>
              <a:gd name="connsiteX103" fmla="*/ 7649146 w 12215791"/>
              <a:gd name="connsiteY103" fmla="*/ 3342756 h 6878320"/>
              <a:gd name="connsiteX104" fmla="*/ 7694782 w 12215791"/>
              <a:gd name="connsiteY104" fmla="*/ 3543804 h 6878320"/>
              <a:gd name="connsiteX105" fmla="*/ 7816503 w 12215791"/>
              <a:gd name="connsiteY105" fmla="*/ 3669542 h 6878320"/>
              <a:gd name="connsiteX106" fmla="*/ 7991526 w 12215791"/>
              <a:gd name="connsiteY106" fmla="*/ 3713003 h 6878320"/>
              <a:gd name="connsiteX107" fmla="*/ 8166217 w 12215791"/>
              <a:gd name="connsiteY107" fmla="*/ 3669763 h 6878320"/>
              <a:gd name="connsiteX108" fmla="*/ 8288269 w 12215791"/>
              <a:gd name="connsiteY108" fmla="*/ 3544246 h 6878320"/>
              <a:gd name="connsiteX109" fmla="*/ 8333905 w 12215791"/>
              <a:gd name="connsiteY109" fmla="*/ 3342756 h 6878320"/>
              <a:gd name="connsiteX110" fmla="*/ 8288269 w 12215791"/>
              <a:gd name="connsiteY110" fmla="*/ 3141044 h 6878320"/>
              <a:gd name="connsiteX111" fmla="*/ 8166217 w 12215791"/>
              <a:gd name="connsiteY111" fmla="*/ 3015638 h 6878320"/>
              <a:gd name="connsiteX112" fmla="*/ 7991526 w 12215791"/>
              <a:gd name="connsiteY112" fmla="*/ 2972509 h 6878320"/>
              <a:gd name="connsiteX113" fmla="*/ 0 w 12215791"/>
              <a:gd name="connsiteY113" fmla="*/ 822960 h 6878320"/>
              <a:gd name="connsiteX114" fmla="*/ 12215791 w 12215791"/>
              <a:gd name="connsiteY114" fmla="*/ 0 h 6878320"/>
              <a:gd name="connsiteX115" fmla="*/ 12215791 w 12215791"/>
              <a:gd name="connsiteY115" fmla="*/ 6878320 h 6878320"/>
              <a:gd name="connsiteX116" fmla="*/ 0 w 12215791"/>
              <a:gd name="connsiteY116" fmla="*/ 6878320 h 6878320"/>
              <a:gd name="connsiteX117" fmla="*/ 0 w 12215791"/>
              <a:gd name="connsiteY117" fmla="*/ 822960 h 6878320"/>
              <a:gd name="connsiteX0" fmla="*/ 4863912 w 12223426"/>
              <a:gd name="connsiteY0" fmla="*/ 2337658 h 6055360"/>
              <a:gd name="connsiteX1" fmla="*/ 4869884 w 12223426"/>
              <a:gd name="connsiteY1" fmla="*/ 2337658 h 6055360"/>
              <a:gd name="connsiteX2" fmla="*/ 4951497 w 12223426"/>
              <a:gd name="connsiteY2" fmla="*/ 2596433 h 6055360"/>
              <a:gd name="connsiteX3" fmla="*/ 4782298 w 12223426"/>
              <a:gd name="connsiteY3" fmla="*/ 2596433 h 6055360"/>
              <a:gd name="connsiteX4" fmla="*/ 4863912 w 12223426"/>
              <a:gd name="connsiteY4" fmla="*/ 2337658 h 6055360"/>
              <a:gd name="connsiteX5" fmla="*/ 7991526 w 12223426"/>
              <a:gd name="connsiteY5" fmla="*/ 2298842 h 6055360"/>
              <a:gd name="connsiteX6" fmla="*/ 8115874 w 12223426"/>
              <a:gd name="connsiteY6" fmla="*/ 2355387 h 6055360"/>
              <a:gd name="connsiteX7" fmla="*/ 8160725 w 12223426"/>
              <a:gd name="connsiteY7" fmla="*/ 2519796 h 6055360"/>
              <a:gd name="connsiteX8" fmla="*/ 8115874 w 12223426"/>
              <a:gd name="connsiteY8" fmla="*/ 2684018 h 6055360"/>
              <a:gd name="connsiteX9" fmla="*/ 7991526 w 12223426"/>
              <a:gd name="connsiteY9" fmla="*/ 2740750 h 6055360"/>
              <a:gd name="connsiteX10" fmla="*/ 7867550 w 12223426"/>
              <a:gd name="connsiteY10" fmla="*/ 2684018 h 6055360"/>
              <a:gd name="connsiteX11" fmla="*/ 7822326 w 12223426"/>
              <a:gd name="connsiteY11" fmla="*/ 2519796 h 6055360"/>
              <a:gd name="connsiteX12" fmla="*/ 7867550 w 12223426"/>
              <a:gd name="connsiteY12" fmla="*/ 2355387 h 6055360"/>
              <a:gd name="connsiteX13" fmla="*/ 7991526 w 12223426"/>
              <a:gd name="connsiteY13" fmla="*/ 2298842 h 6055360"/>
              <a:gd name="connsiteX14" fmla="*/ 8439154 w 12223426"/>
              <a:gd name="connsiteY14" fmla="*/ 2159502 h 6055360"/>
              <a:gd name="connsiteX15" fmla="*/ 8439154 w 12223426"/>
              <a:gd name="connsiteY15" fmla="*/ 2624301 h 6055360"/>
              <a:gd name="connsiteX16" fmla="*/ 8477270 w 12223426"/>
              <a:gd name="connsiteY16" fmla="*/ 2764747 h 6055360"/>
              <a:gd name="connsiteX17" fmla="*/ 8582844 w 12223426"/>
              <a:gd name="connsiteY17" fmla="*/ 2856756 h 6055360"/>
              <a:gd name="connsiteX18" fmla="*/ 8742716 w 12223426"/>
              <a:gd name="connsiteY18" fmla="*/ 2890043 h 6055360"/>
              <a:gd name="connsiteX19" fmla="*/ 8901926 w 12223426"/>
              <a:gd name="connsiteY19" fmla="*/ 2856756 h 6055360"/>
              <a:gd name="connsiteX20" fmla="*/ 9007832 w 12223426"/>
              <a:gd name="connsiteY20" fmla="*/ 2764747 h 6055360"/>
              <a:gd name="connsiteX21" fmla="*/ 9046280 w 12223426"/>
              <a:gd name="connsiteY21" fmla="*/ 2624301 h 6055360"/>
              <a:gd name="connsiteX22" fmla="*/ 9046280 w 12223426"/>
              <a:gd name="connsiteY22" fmla="*/ 2159502 h 6055360"/>
              <a:gd name="connsiteX23" fmla="*/ 8876086 w 12223426"/>
              <a:gd name="connsiteY23" fmla="*/ 2159502 h 6055360"/>
              <a:gd name="connsiteX24" fmla="*/ 8876086 w 12223426"/>
              <a:gd name="connsiteY24" fmla="*/ 2610367 h 6055360"/>
              <a:gd name="connsiteX25" fmla="*/ 8839446 w 12223426"/>
              <a:gd name="connsiteY25" fmla="*/ 2704608 h 6055360"/>
              <a:gd name="connsiteX26" fmla="*/ 8742716 w 12223426"/>
              <a:gd name="connsiteY26" fmla="*/ 2741745 h 6055360"/>
              <a:gd name="connsiteX27" fmla="*/ 8645490 w 12223426"/>
              <a:gd name="connsiteY27" fmla="*/ 2704608 h 6055360"/>
              <a:gd name="connsiteX28" fmla="*/ 8608353 w 12223426"/>
              <a:gd name="connsiteY28" fmla="*/ 2610367 h 6055360"/>
              <a:gd name="connsiteX29" fmla="*/ 8608353 w 12223426"/>
              <a:gd name="connsiteY29" fmla="*/ 2159502 h 6055360"/>
              <a:gd name="connsiteX30" fmla="*/ 8439154 w 12223426"/>
              <a:gd name="connsiteY30" fmla="*/ 2159502 h 6055360"/>
              <a:gd name="connsiteX31" fmla="*/ 6886858 w 12223426"/>
              <a:gd name="connsiteY31" fmla="*/ 2159502 h 6055360"/>
              <a:gd name="connsiteX32" fmla="*/ 7150609 w 12223426"/>
              <a:gd name="connsiteY32" fmla="*/ 2636245 h 6055360"/>
              <a:gd name="connsiteX33" fmla="*/ 7150609 w 12223426"/>
              <a:gd name="connsiteY33" fmla="*/ 2880090 h 6055360"/>
              <a:gd name="connsiteX34" fmla="*/ 7319808 w 12223426"/>
              <a:gd name="connsiteY34" fmla="*/ 2880090 h 6055360"/>
              <a:gd name="connsiteX35" fmla="*/ 7319808 w 12223426"/>
              <a:gd name="connsiteY35" fmla="*/ 2636245 h 6055360"/>
              <a:gd name="connsiteX36" fmla="*/ 7582565 w 12223426"/>
              <a:gd name="connsiteY36" fmla="*/ 2159502 h 6055360"/>
              <a:gd name="connsiteX37" fmla="*/ 7393460 w 12223426"/>
              <a:gd name="connsiteY37" fmla="*/ 2159502 h 6055360"/>
              <a:gd name="connsiteX38" fmla="*/ 7238195 w 12223426"/>
              <a:gd name="connsiteY38" fmla="*/ 2462069 h 6055360"/>
              <a:gd name="connsiteX39" fmla="*/ 7232223 w 12223426"/>
              <a:gd name="connsiteY39" fmla="*/ 2462069 h 6055360"/>
              <a:gd name="connsiteX40" fmla="*/ 7076958 w 12223426"/>
              <a:gd name="connsiteY40" fmla="*/ 2159502 h 6055360"/>
              <a:gd name="connsiteX41" fmla="*/ 6886858 w 12223426"/>
              <a:gd name="connsiteY41" fmla="*/ 2159502 h 6055360"/>
              <a:gd name="connsiteX42" fmla="*/ 6019804 w 12223426"/>
              <a:gd name="connsiteY42" fmla="*/ 2159502 h 6055360"/>
              <a:gd name="connsiteX43" fmla="*/ 6019804 w 12223426"/>
              <a:gd name="connsiteY43" fmla="*/ 2880090 h 6055360"/>
              <a:gd name="connsiteX44" fmla="*/ 6189003 w 12223426"/>
              <a:gd name="connsiteY44" fmla="*/ 2880090 h 6055360"/>
              <a:gd name="connsiteX45" fmla="*/ 6189003 w 12223426"/>
              <a:gd name="connsiteY45" fmla="*/ 2683023 h 6055360"/>
              <a:gd name="connsiteX46" fmla="*/ 6260664 w 12223426"/>
              <a:gd name="connsiteY46" fmla="*/ 2594443 h 6055360"/>
              <a:gd name="connsiteX47" fmla="*/ 6442801 w 12223426"/>
              <a:gd name="connsiteY47" fmla="*/ 2880090 h 6055360"/>
              <a:gd name="connsiteX48" fmla="*/ 6645840 w 12223426"/>
              <a:gd name="connsiteY48" fmla="*/ 2880090 h 6055360"/>
              <a:gd name="connsiteX49" fmla="*/ 6384079 w 12223426"/>
              <a:gd name="connsiteY49" fmla="*/ 2480980 h 6055360"/>
              <a:gd name="connsiteX50" fmla="*/ 6641859 w 12223426"/>
              <a:gd name="connsiteY50" fmla="*/ 2159502 h 6055360"/>
              <a:gd name="connsiteX51" fmla="*/ 6440811 w 12223426"/>
              <a:gd name="connsiteY51" fmla="*/ 2159502 h 6055360"/>
              <a:gd name="connsiteX52" fmla="*/ 6198956 w 12223426"/>
              <a:gd name="connsiteY52" fmla="*/ 2467046 h 6055360"/>
              <a:gd name="connsiteX53" fmla="*/ 6189003 w 12223426"/>
              <a:gd name="connsiteY53" fmla="*/ 2467046 h 6055360"/>
              <a:gd name="connsiteX54" fmla="*/ 6189003 w 12223426"/>
              <a:gd name="connsiteY54" fmla="*/ 2159502 h 6055360"/>
              <a:gd name="connsiteX55" fmla="*/ 6019804 w 12223426"/>
              <a:gd name="connsiteY55" fmla="*/ 2159502 h 6055360"/>
              <a:gd name="connsiteX56" fmla="*/ 5295904 w 12223426"/>
              <a:gd name="connsiteY56" fmla="*/ 2159502 h 6055360"/>
              <a:gd name="connsiteX57" fmla="*/ 5295904 w 12223426"/>
              <a:gd name="connsiteY57" fmla="*/ 2880090 h 6055360"/>
              <a:gd name="connsiteX58" fmla="*/ 5465103 w 12223426"/>
              <a:gd name="connsiteY58" fmla="*/ 2880090 h 6055360"/>
              <a:gd name="connsiteX59" fmla="*/ 5465103 w 12223426"/>
              <a:gd name="connsiteY59" fmla="*/ 2457093 h 6055360"/>
              <a:gd name="connsiteX60" fmla="*/ 5470079 w 12223426"/>
              <a:gd name="connsiteY60" fmla="*/ 2457093 h 6055360"/>
              <a:gd name="connsiteX61" fmla="*/ 5762694 w 12223426"/>
              <a:gd name="connsiteY61" fmla="*/ 2880090 h 6055360"/>
              <a:gd name="connsiteX62" fmla="*/ 5907012 w 12223426"/>
              <a:gd name="connsiteY62" fmla="*/ 2880090 h 6055360"/>
              <a:gd name="connsiteX63" fmla="*/ 5907012 w 12223426"/>
              <a:gd name="connsiteY63" fmla="*/ 2159502 h 6055360"/>
              <a:gd name="connsiteX64" fmla="*/ 5737812 w 12223426"/>
              <a:gd name="connsiteY64" fmla="*/ 2159502 h 6055360"/>
              <a:gd name="connsiteX65" fmla="*/ 5737812 w 12223426"/>
              <a:gd name="connsiteY65" fmla="*/ 2582499 h 6055360"/>
              <a:gd name="connsiteX66" fmla="*/ 5731840 w 12223426"/>
              <a:gd name="connsiteY66" fmla="*/ 2582499 h 6055360"/>
              <a:gd name="connsiteX67" fmla="*/ 5442211 w 12223426"/>
              <a:gd name="connsiteY67" fmla="*/ 2159502 h 6055360"/>
              <a:gd name="connsiteX68" fmla="*/ 5295904 w 12223426"/>
              <a:gd name="connsiteY68" fmla="*/ 2159502 h 6055360"/>
              <a:gd name="connsiteX69" fmla="*/ 4754430 w 12223426"/>
              <a:gd name="connsiteY69" fmla="*/ 2159502 h 6055360"/>
              <a:gd name="connsiteX70" fmla="*/ 4509589 w 12223426"/>
              <a:gd name="connsiteY70" fmla="*/ 2880090 h 6055360"/>
              <a:gd name="connsiteX71" fmla="*/ 4692722 w 12223426"/>
              <a:gd name="connsiteY71" fmla="*/ 2880090 h 6055360"/>
              <a:gd name="connsiteX72" fmla="*/ 4741492 w 12223426"/>
              <a:gd name="connsiteY72" fmla="*/ 2725821 h 6055360"/>
              <a:gd name="connsiteX73" fmla="*/ 4992304 w 12223426"/>
              <a:gd name="connsiteY73" fmla="*/ 2725821 h 6055360"/>
              <a:gd name="connsiteX74" fmla="*/ 5041073 w 12223426"/>
              <a:gd name="connsiteY74" fmla="*/ 2880090 h 6055360"/>
              <a:gd name="connsiteX75" fmla="*/ 5223211 w 12223426"/>
              <a:gd name="connsiteY75" fmla="*/ 2880090 h 6055360"/>
              <a:gd name="connsiteX76" fmla="*/ 4979365 w 12223426"/>
              <a:gd name="connsiteY76" fmla="*/ 2159502 h 6055360"/>
              <a:gd name="connsiteX77" fmla="*/ 4754430 w 12223426"/>
              <a:gd name="connsiteY77" fmla="*/ 2159502 h 6055360"/>
              <a:gd name="connsiteX78" fmla="*/ 3810004 w 12223426"/>
              <a:gd name="connsiteY78" fmla="*/ 2159502 h 6055360"/>
              <a:gd name="connsiteX79" fmla="*/ 3810004 w 12223426"/>
              <a:gd name="connsiteY79" fmla="*/ 2880090 h 6055360"/>
              <a:gd name="connsiteX80" fmla="*/ 3979203 w 12223426"/>
              <a:gd name="connsiteY80" fmla="*/ 2880090 h 6055360"/>
              <a:gd name="connsiteX81" fmla="*/ 3979203 w 12223426"/>
              <a:gd name="connsiteY81" fmla="*/ 2588471 h 6055360"/>
              <a:gd name="connsiteX82" fmla="*/ 4268832 w 12223426"/>
              <a:gd name="connsiteY82" fmla="*/ 2588471 h 6055360"/>
              <a:gd name="connsiteX83" fmla="*/ 4268832 w 12223426"/>
              <a:gd name="connsiteY83" fmla="*/ 2880090 h 6055360"/>
              <a:gd name="connsiteX84" fmla="*/ 4438031 w 12223426"/>
              <a:gd name="connsiteY84" fmla="*/ 2880090 h 6055360"/>
              <a:gd name="connsiteX85" fmla="*/ 4438031 w 12223426"/>
              <a:gd name="connsiteY85" fmla="*/ 2159502 h 6055360"/>
              <a:gd name="connsiteX86" fmla="*/ 4268832 w 12223426"/>
              <a:gd name="connsiteY86" fmla="*/ 2159502 h 6055360"/>
              <a:gd name="connsiteX87" fmla="*/ 4268832 w 12223426"/>
              <a:gd name="connsiteY87" fmla="*/ 2450126 h 6055360"/>
              <a:gd name="connsiteX88" fmla="*/ 3979203 w 12223426"/>
              <a:gd name="connsiteY88" fmla="*/ 2450126 h 6055360"/>
              <a:gd name="connsiteX89" fmla="*/ 3979203 w 12223426"/>
              <a:gd name="connsiteY89" fmla="*/ 2159502 h 6055360"/>
              <a:gd name="connsiteX90" fmla="*/ 3810004 w 12223426"/>
              <a:gd name="connsiteY90" fmla="*/ 2159502 h 6055360"/>
              <a:gd name="connsiteX91" fmla="*/ 3118372 w 12223426"/>
              <a:gd name="connsiteY91" fmla="*/ 2159502 h 6055360"/>
              <a:gd name="connsiteX92" fmla="*/ 3118372 w 12223426"/>
              <a:gd name="connsiteY92" fmla="*/ 2297847 h 6055360"/>
              <a:gd name="connsiteX93" fmla="*/ 3337335 w 12223426"/>
              <a:gd name="connsiteY93" fmla="*/ 2297847 h 6055360"/>
              <a:gd name="connsiteX94" fmla="*/ 3337335 w 12223426"/>
              <a:gd name="connsiteY94" fmla="*/ 2880090 h 6055360"/>
              <a:gd name="connsiteX95" fmla="*/ 3505539 w 12223426"/>
              <a:gd name="connsiteY95" fmla="*/ 2880090 h 6055360"/>
              <a:gd name="connsiteX96" fmla="*/ 3505539 w 12223426"/>
              <a:gd name="connsiteY96" fmla="*/ 2297847 h 6055360"/>
              <a:gd name="connsiteX97" fmla="*/ 3724503 w 12223426"/>
              <a:gd name="connsiteY97" fmla="*/ 2297847 h 6055360"/>
              <a:gd name="connsiteX98" fmla="*/ 3724503 w 12223426"/>
              <a:gd name="connsiteY98" fmla="*/ 2159502 h 6055360"/>
              <a:gd name="connsiteX99" fmla="*/ 3118372 w 12223426"/>
              <a:gd name="connsiteY99" fmla="*/ 2159502 h 6055360"/>
              <a:gd name="connsiteX100" fmla="*/ 7991526 w 12223426"/>
              <a:gd name="connsiteY100" fmla="*/ 2149549 h 6055360"/>
              <a:gd name="connsiteX101" fmla="*/ 7816503 w 12223426"/>
              <a:gd name="connsiteY101" fmla="*/ 2192678 h 6055360"/>
              <a:gd name="connsiteX102" fmla="*/ 7694782 w 12223426"/>
              <a:gd name="connsiteY102" fmla="*/ 2318084 h 6055360"/>
              <a:gd name="connsiteX103" fmla="*/ 7649146 w 12223426"/>
              <a:gd name="connsiteY103" fmla="*/ 2519796 h 6055360"/>
              <a:gd name="connsiteX104" fmla="*/ 7694782 w 12223426"/>
              <a:gd name="connsiteY104" fmla="*/ 2720844 h 6055360"/>
              <a:gd name="connsiteX105" fmla="*/ 7816503 w 12223426"/>
              <a:gd name="connsiteY105" fmla="*/ 2846582 h 6055360"/>
              <a:gd name="connsiteX106" fmla="*/ 7991526 w 12223426"/>
              <a:gd name="connsiteY106" fmla="*/ 2890043 h 6055360"/>
              <a:gd name="connsiteX107" fmla="*/ 8166217 w 12223426"/>
              <a:gd name="connsiteY107" fmla="*/ 2846803 h 6055360"/>
              <a:gd name="connsiteX108" fmla="*/ 8288269 w 12223426"/>
              <a:gd name="connsiteY108" fmla="*/ 2721286 h 6055360"/>
              <a:gd name="connsiteX109" fmla="*/ 8333905 w 12223426"/>
              <a:gd name="connsiteY109" fmla="*/ 2519796 h 6055360"/>
              <a:gd name="connsiteX110" fmla="*/ 8288269 w 12223426"/>
              <a:gd name="connsiteY110" fmla="*/ 2318084 h 6055360"/>
              <a:gd name="connsiteX111" fmla="*/ 8166217 w 12223426"/>
              <a:gd name="connsiteY111" fmla="*/ 2192678 h 6055360"/>
              <a:gd name="connsiteX112" fmla="*/ 7991526 w 12223426"/>
              <a:gd name="connsiteY112" fmla="*/ 2149549 h 6055360"/>
              <a:gd name="connsiteX113" fmla="*/ 0 w 12223426"/>
              <a:gd name="connsiteY113" fmla="*/ 0 h 6055360"/>
              <a:gd name="connsiteX114" fmla="*/ 12223426 w 12223426"/>
              <a:gd name="connsiteY114" fmla="*/ 0 h 6055360"/>
              <a:gd name="connsiteX115" fmla="*/ 12215791 w 12223426"/>
              <a:gd name="connsiteY115" fmla="*/ 6055360 h 6055360"/>
              <a:gd name="connsiteX116" fmla="*/ 0 w 12223426"/>
              <a:gd name="connsiteY116" fmla="*/ 6055360 h 6055360"/>
              <a:gd name="connsiteX117" fmla="*/ 0 w 12223426"/>
              <a:gd name="connsiteY117" fmla="*/ 0 h 605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2223426" h="6055360">
                <a:moveTo>
                  <a:pt x="4863912" y="2337658"/>
                </a:moveTo>
                <a:lnTo>
                  <a:pt x="4869884" y="2337658"/>
                </a:lnTo>
                <a:lnTo>
                  <a:pt x="4951497" y="2596433"/>
                </a:lnTo>
                <a:lnTo>
                  <a:pt x="4782298" y="2596433"/>
                </a:lnTo>
                <a:lnTo>
                  <a:pt x="4863912" y="2337658"/>
                </a:lnTo>
                <a:close/>
                <a:moveTo>
                  <a:pt x="7991526" y="2298842"/>
                </a:moveTo>
                <a:cubicBezTo>
                  <a:pt x="8044763" y="2298873"/>
                  <a:pt x="8086213" y="2317721"/>
                  <a:pt x="8115874" y="2355387"/>
                </a:cubicBezTo>
                <a:cubicBezTo>
                  <a:pt x="8145536" y="2393052"/>
                  <a:pt x="8160486" y="2447855"/>
                  <a:pt x="8160725" y="2519796"/>
                </a:cubicBezTo>
                <a:cubicBezTo>
                  <a:pt x="8160486" y="2591705"/>
                  <a:pt x="8145536" y="2646446"/>
                  <a:pt x="8115874" y="2684018"/>
                </a:cubicBezTo>
                <a:cubicBezTo>
                  <a:pt x="8086213" y="2721591"/>
                  <a:pt x="8044763" y="2740501"/>
                  <a:pt x="7991526" y="2740750"/>
                </a:cubicBezTo>
                <a:cubicBezTo>
                  <a:pt x="7938537" y="2740501"/>
                  <a:pt x="7897212" y="2721591"/>
                  <a:pt x="7867550" y="2684018"/>
                </a:cubicBezTo>
                <a:cubicBezTo>
                  <a:pt x="7837888" y="2646446"/>
                  <a:pt x="7822814" y="2591705"/>
                  <a:pt x="7822326" y="2519796"/>
                </a:cubicBezTo>
                <a:cubicBezTo>
                  <a:pt x="7822814" y="2447855"/>
                  <a:pt x="7837888" y="2393052"/>
                  <a:pt x="7867550" y="2355387"/>
                </a:cubicBezTo>
                <a:cubicBezTo>
                  <a:pt x="7897212" y="2317721"/>
                  <a:pt x="7938537" y="2298873"/>
                  <a:pt x="7991526" y="2298842"/>
                </a:cubicBezTo>
                <a:close/>
                <a:moveTo>
                  <a:pt x="8439154" y="2159502"/>
                </a:moveTo>
                <a:lnTo>
                  <a:pt x="8439154" y="2624301"/>
                </a:lnTo>
                <a:cubicBezTo>
                  <a:pt x="8439520" y="2678332"/>
                  <a:pt x="8452224" y="2725148"/>
                  <a:pt x="8477270" y="2764747"/>
                </a:cubicBezTo>
                <a:cubicBezTo>
                  <a:pt x="8502314" y="2804347"/>
                  <a:pt x="8537506" y="2835017"/>
                  <a:pt x="8582844" y="2856756"/>
                </a:cubicBezTo>
                <a:cubicBezTo>
                  <a:pt x="8628182" y="2878496"/>
                  <a:pt x="8681473" y="2889591"/>
                  <a:pt x="8742716" y="2890043"/>
                </a:cubicBezTo>
                <a:cubicBezTo>
                  <a:pt x="8803491" y="2889591"/>
                  <a:pt x="8856560" y="2878496"/>
                  <a:pt x="8901926" y="2856756"/>
                </a:cubicBezTo>
                <a:cubicBezTo>
                  <a:pt x="8947292" y="2835017"/>
                  <a:pt x="8982594" y="2804347"/>
                  <a:pt x="9007832" y="2764747"/>
                </a:cubicBezTo>
                <a:cubicBezTo>
                  <a:pt x="9033070" y="2725148"/>
                  <a:pt x="9045886" y="2678332"/>
                  <a:pt x="9046280" y="2624301"/>
                </a:cubicBezTo>
                <a:lnTo>
                  <a:pt x="9046280" y="2159502"/>
                </a:lnTo>
                <a:lnTo>
                  <a:pt x="8876086" y="2159502"/>
                </a:lnTo>
                <a:lnTo>
                  <a:pt x="8876086" y="2610367"/>
                </a:lnTo>
                <a:cubicBezTo>
                  <a:pt x="8875722" y="2649152"/>
                  <a:pt x="8863510" y="2680566"/>
                  <a:pt x="8839446" y="2704608"/>
                </a:cubicBezTo>
                <a:cubicBezTo>
                  <a:pt x="8815383" y="2728651"/>
                  <a:pt x="8783140" y="2741030"/>
                  <a:pt x="8742716" y="2741745"/>
                </a:cubicBezTo>
                <a:cubicBezTo>
                  <a:pt x="8702066" y="2741030"/>
                  <a:pt x="8669656" y="2728651"/>
                  <a:pt x="8645490" y="2704608"/>
                </a:cubicBezTo>
                <a:cubicBezTo>
                  <a:pt x="8621323" y="2680566"/>
                  <a:pt x="8608944" y="2649152"/>
                  <a:pt x="8608353" y="2610367"/>
                </a:cubicBezTo>
                <a:lnTo>
                  <a:pt x="8608353" y="2159502"/>
                </a:lnTo>
                <a:lnTo>
                  <a:pt x="8439154" y="2159502"/>
                </a:lnTo>
                <a:close/>
                <a:moveTo>
                  <a:pt x="6886858" y="2159502"/>
                </a:moveTo>
                <a:lnTo>
                  <a:pt x="7150609" y="2636245"/>
                </a:lnTo>
                <a:lnTo>
                  <a:pt x="7150609" y="2880090"/>
                </a:lnTo>
                <a:lnTo>
                  <a:pt x="7319808" y="2880090"/>
                </a:lnTo>
                <a:lnTo>
                  <a:pt x="7319808" y="2636245"/>
                </a:lnTo>
                <a:lnTo>
                  <a:pt x="7582565" y="2159502"/>
                </a:lnTo>
                <a:lnTo>
                  <a:pt x="7393460" y="2159502"/>
                </a:lnTo>
                <a:lnTo>
                  <a:pt x="7238195" y="2462069"/>
                </a:lnTo>
                <a:lnTo>
                  <a:pt x="7232223" y="2462069"/>
                </a:lnTo>
                <a:lnTo>
                  <a:pt x="7076958" y="2159502"/>
                </a:lnTo>
                <a:lnTo>
                  <a:pt x="6886858" y="2159502"/>
                </a:lnTo>
                <a:close/>
                <a:moveTo>
                  <a:pt x="6019804" y="2159502"/>
                </a:moveTo>
                <a:lnTo>
                  <a:pt x="6019804" y="2880090"/>
                </a:lnTo>
                <a:lnTo>
                  <a:pt x="6189003" y="2880090"/>
                </a:lnTo>
                <a:lnTo>
                  <a:pt x="6189003" y="2683023"/>
                </a:lnTo>
                <a:lnTo>
                  <a:pt x="6260664" y="2594443"/>
                </a:lnTo>
                <a:lnTo>
                  <a:pt x="6442801" y="2880090"/>
                </a:lnTo>
                <a:lnTo>
                  <a:pt x="6645840" y="2880090"/>
                </a:lnTo>
                <a:lnTo>
                  <a:pt x="6384079" y="2480980"/>
                </a:lnTo>
                <a:lnTo>
                  <a:pt x="6641859" y="2159502"/>
                </a:lnTo>
                <a:lnTo>
                  <a:pt x="6440811" y="2159502"/>
                </a:lnTo>
                <a:lnTo>
                  <a:pt x="6198956" y="2467046"/>
                </a:lnTo>
                <a:lnTo>
                  <a:pt x="6189003" y="2467046"/>
                </a:lnTo>
                <a:lnTo>
                  <a:pt x="6189003" y="2159502"/>
                </a:lnTo>
                <a:lnTo>
                  <a:pt x="6019804" y="2159502"/>
                </a:lnTo>
                <a:close/>
                <a:moveTo>
                  <a:pt x="5295904" y="2159502"/>
                </a:moveTo>
                <a:lnTo>
                  <a:pt x="5295904" y="2880090"/>
                </a:lnTo>
                <a:lnTo>
                  <a:pt x="5465103" y="2880090"/>
                </a:lnTo>
                <a:lnTo>
                  <a:pt x="5465103" y="2457093"/>
                </a:lnTo>
                <a:lnTo>
                  <a:pt x="5470079" y="2457093"/>
                </a:lnTo>
                <a:lnTo>
                  <a:pt x="5762694" y="2880090"/>
                </a:lnTo>
                <a:lnTo>
                  <a:pt x="5907012" y="2880090"/>
                </a:lnTo>
                <a:lnTo>
                  <a:pt x="5907012" y="2159502"/>
                </a:lnTo>
                <a:lnTo>
                  <a:pt x="5737812" y="2159502"/>
                </a:lnTo>
                <a:lnTo>
                  <a:pt x="5737812" y="2582499"/>
                </a:lnTo>
                <a:lnTo>
                  <a:pt x="5731840" y="2582499"/>
                </a:lnTo>
                <a:lnTo>
                  <a:pt x="5442211" y="2159502"/>
                </a:lnTo>
                <a:lnTo>
                  <a:pt x="5295904" y="2159502"/>
                </a:lnTo>
                <a:close/>
                <a:moveTo>
                  <a:pt x="4754430" y="2159502"/>
                </a:moveTo>
                <a:lnTo>
                  <a:pt x="4509589" y="2880090"/>
                </a:lnTo>
                <a:lnTo>
                  <a:pt x="4692722" y="2880090"/>
                </a:lnTo>
                <a:lnTo>
                  <a:pt x="4741492" y="2725821"/>
                </a:lnTo>
                <a:lnTo>
                  <a:pt x="4992304" y="2725821"/>
                </a:lnTo>
                <a:lnTo>
                  <a:pt x="5041073" y="2880090"/>
                </a:lnTo>
                <a:lnTo>
                  <a:pt x="5223211" y="2880090"/>
                </a:lnTo>
                <a:lnTo>
                  <a:pt x="4979365" y="2159502"/>
                </a:lnTo>
                <a:lnTo>
                  <a:pt x="4754430" y="2159502"/>
                </a:lnTo>
                <a:close/>
                <a:moveTo>
                  <a:pt x="3810004" y="2159502"/>
                </a:moveTo>
                <a:lnTo>
                  <a:pt x="3810004" y="2880090"/>
                </a:lnTo>
                <a:lnTo>
                  <a:pt x="3979203" y="2880090"/>
                </a:lnTo>
                <a:lnTo>
                  <a:pt x="3979203" y="2588471"/>
                </a:lnTo>
                <a:lnTo>
                  <a:pt x="4268832" y="2588471"/>
                </a:lnTo>
                <a:lnTo>
                  <a:pt x="4268832" y="2880090"/>
                </a:lnTo>
                <a:lnTo>
                  <a:pt x="4438031" y="2880090"/>
                </a:lnTo>
                <a:lnTo>
                  <a:pt x="4438031" y="2159502"/>
                </a:lnTo>
                <a:lnTo>
                  <a:pt x="4268832" y="2159502"/>
                </a:lnTo>
                <a:lnTo>
                  <a:pt x="4268832" y="2450126"/>
                </a:lnTo>
                <a:lnTo>
                  <a:pt x="3979203" y="2450126"/>
                </a:lnTo>
                <a:lnTo>
                  <a:pt x="3979203" y="2159502"/>
                </a:lnTo>
                <a:lnTo>
                  <a:pt x="3810004" y="2159502"/>
                </a:lnTo>
                <a:close/>
                <a:moveTo>
                  <a:pt x="3118372" y="2159502"/>
                </a:moveTo>
                <a:lnTo>
                  <a:pt x="3118372" y="2297847"/>
                </a:lnTo>
                <a:lnTo>
                  <a:pt x="3337335" y="2297847"/>
                </a:lnTo>
                <a:lnTo>
                  <a:pt x="3337335" y="2880090"/>
                </a:lnTo>
                <a:lnTo>
                  <a:pt x="3505539" y="2880090"/>
                </a:lnTo>
                <a:lnTo>
                  <a:pt x="3505539" y="2297847"/>
                </a:lnTo>
                <a:lnTo>
                  <a:pt x="3724503" y="2297847"/>
                </a:lnTo>
                <a:lnTo>
                  <a:pt x="3724503" y="2159502"/>
                </a:lnTo>
                <a:lnTo>
                  <a:pt x="3118372" y="2159502"/>
                </a:lnTo>
                <a:close/>
                <a:moveTo>
                  <a:pt x="7991526" y="2149549"/>
                </a:moveTo>
                <a:cubicBezTo>
                  <a:pt x="7926199" y="2149715"/>
                  <a:pt x="7867858" y="2164091"/>
                  <a:pt x="7816503" y="2192678"/>
                </a:cubicBezTo>
                <a:cubicBezTo>
                  <a:pt x="7765147" y="2221265"/>
                  <a:pt x="7724573" y="2263067"/>
                  <a:pt x="7694782" y="2318084"/>
                </a:cubicBezTo>
                <a:cubicBezTo>
                  <a:pt x="7664991" y="2373101"/>
                  <a:pt x="7649779" y="2440339"/>
                  <a:pt x="7649146" y="2519796"/>
                </a:cubicBezTo>
                <a:cubicBezTo>
                  <a:pt x="7649779" y="2598783"/>
                  <a:pt x="7664991" y="2665799"/>
                  <a:pt x="7694782" y="2720844"/>
                </a:cubicBezTo>
                <a:cubicBezTo>
                  <a:pt x="7724573" y="2775889"/>
                  <a:pt x="7765146" y="2817802"/>
                  <a:pt x="7816503" y="2846582"/>
                </a:cubicBezTo>
                <a:cubicBezTo>
                  <a:pt x="7867858" y="2875363"/>
                  <a:pt x="7926199" y="2889850"/>
                  <a:pt x="7991526" y="2890043"/>
                </a:cubicBezTo>
                <a:cubicBezTo>
                  <a:pt x="8056548" y="2889868"/>
                  <a:pt x="8114779" y="2875455"/>
                  <a:pt x="8166217" y="2846803"/>
                </a:cubicBezTo>
                <a:cubicBezTo>
                  <a:pt x="8217655" y="2818152"/>
                  <a:pt x="8258340" y="2776313"/>
                  <a:pt x="8288269" y="2721286"/>
                </a:cubicBezTo>
                <a:cubicBezTo>
                  <a:pt x="8318198" y="2666260"/>
                  <a:pt x="8333411" y="2599097"/>
                  <a:pt x="8333905" y="2519796"/>
                </a:cubicBezTo>
                <a:cubicBezTo>
                  <a:pt x="8333411" y="2440339"/>
                  <a:pt x="8318198" y="2373101"/>
                  <a:pt x="8288269" y="2318084"/>
                </a:cubicBezTo>
                <a:cubicBezTo>
                  <a:pt x="8258340" y="2263067"/>
                  <a:pt x="8217655" y="2221265"/>
                  <a:pt x="8166217" y="2192678"/>
                </a:cubicBezTo>
                <a:cubicBezTo>
                  <a:pt x="8114779" y="2164091"/>
                  <a:pt x="8056548" y="2149715"/>
                  <a:pt x="7991526" y="2149549"/>
                </a:cubicBezTo>
                <a:close/>
                <a:moveTo>
                  <a:pt x="0" y="0"/>
                </a:moveTo>
                <a:lnTo>
                  <a:pt x="12223426" y="0"/>
                </a:lnTo>
                <a:lnTo>
                  <a:pt x="12215791" y="6055360"/>
                </a:lnTo>
                <a:lnTo>
                  <a:pt x="0" y="6055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27E5A56-141B-31B6-3DA0-07BC156E8F14}"/>
              </a:ext>
            </a:extLst>
          </p:cNvPr>
          <p:cNvSpPr/>
          <p:nvPr userDrawn="1"/>
        </p:nvSpPr>
        <p:spPr>
          <a:xfrm>
            <a:off x="0" y="6057900"/>
            <a:ext cx="12191999" cy="800100"/>
          </a:xfrm>
          <a:prstGeom prst="rect">
            <a:avLst/>
          </a:prstGeom>
          <a:solidFill>
            <a:srgbClr val="044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A9296742-2014-3424-62AE-F665E64ED574}"/>
              </a:ext>
            </a:extLst>
          </p:cNvPr>
          <p:cNvSpPr txBox="1"/>
          <p:nvPr userDrawn="1"/>
        </p:nvSpPr>
        <p:spPr>
          <a:xfrm>
            <a:off x="236626" y="6138446"/>
            <a:ext cx="4025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Adress</a:t>
            </a:r>
            <a:endParaRPr lang="en-US" sz="1200" u="none" strike="noStrike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4B95EDF5-EC10-C2C7-F58F-B224A82186F8}"/>
              </a:ext>
            </a:extLst>
          </p:cNvPr>
          <p:cNvSpPr txBox="1"/>
          <p:nvPr userDrawn="1"/>
        </p:nvSpPr>
        <p:spPr>
          <a:xfrm>
            <a:off x="236626" y="6525796"/>
            <a:ext cx="4025900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서울시 영등포구 </a:t>
            </a:r>
            <a:r>
              <a:rPr lang="ko-KR" alt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선유로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114 </a:t>
            </a:r>
            <a:r>
              <a:rPr lang="ko-KR" alt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양평자이비즈타워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907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호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784711D-1E76-927F-A5CC-674B53082DEE}"/>
              </a:ext>
            </a:extLst>
          </p:cNvPr>
          <p:cNvCxnSpPr/>
          <p:nvPr userDrawn="1"/>
        </p:nvCxnSpPr>
        <p:spPr>
          <a:xfrm>
            <a:off x="3852941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2">
            <a:extLst>
              <a:ext uri="{FF2B5EF4-FFF2-40B4-BE49-F238E27FC236}">
                <a16:creationId xmlns:a16="http://schemas.microsoft.com/office/drawing/2014/main" id="{76D6C5B5-67B9-A1EC-0934-261AFCA01FFA}"/>
              </a:ext>
            </a:extLst>
          </p:cNvPr>
          <p:cNvSpPr txBox="1"/>
          <p:nvPr userDrawn="1"/>
        </p:nvSpPr>
        <p:spPr>
          <a:xfrm>
            <a:off x="3977058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Tel/Fax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14981E-C1FB-6B31-2E72-77E585B88D26}"/>
              </a:ext>
            </a:extLst>
          </p:cNvPr>
          <p:cNvSpPr txBox="1"/>
          <p:nvPr userDrawn="1"/>
        </p:nvSpPr>
        <p:spPr>
          <a:xfrm>
            <a:off x="3977058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02-2088-2959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2E64115-D288-1537-34EC-4C88FA87ED79}"/>
              </a:ext>
            </a:extLst>
          </p:cNvPr>
          <p:cNvCxnSpPr/>
          <p:nvPr userDrawn="1"/>
        </p:nvCxnSpPr>
        <p:spPr>
          <a:xfrm>
            <a:off x="6310137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2">
            <a:extLst>
              <a:ext uri="{FF2B5EF4-FFF2-40B4-BE49-F238E27FC236}">
                <a16:creationId xmlns:a16="http://schemas.microsoft.com/office/drawing/2014/main" id="{C79511D7-3379-EAAA-1E18-63CC7C877C74}"/>
              </a:ext>
            </a:extLst>
          </p:cNvPr>
          <p:cNvSpPr txBox="1"/>
          <p:nvPr userDrawn="1"/>
        </p:nvSpPr>
        <p:spPr>
          <a:xfrm>
            <a:off x="6396483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Email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2D12C24A-14BC-FAB6-FF77-0FBE3E8AF200}"/>
              </a:ext>
            </a:extLst>
          </p:cNvPr>
          <p:cNvSpPr txBox="1"/>
          <p:nvPr userDrawn="1"/>
        </p:nvSpPr>
        <p:spPr>
          <a:xfrm>
            <a:off x="6396483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admin@dxel.co.kr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A23FA22-1A69-7A19-E288-8D98CBD4686F}"/>
              </a:ext>
            </a:extLst>
          </p:cNvPr>
          <p:cNvCxnSpPr/>
          <p:nvPr userDrawn="1"/>
        </p:nvCxnSpPr>
        <p:spPr>
          <a:xfrm>
            <a:off x="9109028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2">
            <a:extLst>
              <a:ext uri="{FF2B5EF4-FFF2-40B4-BE49-F238E27FC236}">
                <a16:creationId xmlns:a16="http://schemas.microsoft.com/office/drawing/2014/main" id="{37E1BF89-C7A4-C036-6D08-BD01BDADE45F}"/>
              </a:ext>
            </a:extLst>
          </p:cNvPr>
          <p:cNvSpPr txBox="1"/>
          <p:nvPr userDrawn="1"/>
        </p:nvSpPr>
        <p:spPr>
          <a:xfrm>
            <a:off x="9195374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Home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Page</a:t>
            </a:r>
            <a:endParaRPr lang="en-US" sz="1200" u="none" strike="noStrike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5A56B74-D4DC-C4A2-DCCE-6159C79110AB}"/>
              </a:ext>
            </a:extLst>
          </p:cNvPr>
          <p:cNvSpPr txBox="1"/>
          <p:nvPr userDrawn="1"/>
        </p:nvSpPr>
        <p:spPr>
          <a:xfrm>
            <a:off x="9195374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www.dxel.co.kr</a:t>
            </a:r>
          </a:p>
        </p:txBody>
      </p:sp>
    </p:spTree>
    <p:extLst>
      <p:ext uri="{BB962C8B-B14F-4D97-AF65-F5344CB8AC3E}">
        <p14:creationId xmlns:p14="http://schemas.microsoft.com/office/powerpoint/2010/main" val="2525161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1574800"/>
            <a:ext cx="822960" cy="365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801"/>
              </a:spcBef>
            </a:pPr>
            <a:endParaRPr lang="ko-KR" altLang="en-US" sz="16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29419-389C-05EF-A606-B0A3B838460A}"/>
              </a:ext>
            </a:extLst>
          </p:cNvPr>
          <p:cNvSpPr txBox="1"/>
          <p:nvPr userDrawn="1"/>
        </p:nvSpPr>
        <p:spPr>
          <a:xfrm>
            <a:off x="4080626" y="2031827"/>
            <a:ext cx="4030748" cy="732636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4051" b="1" kern="0">
                <a:solidFill>
                  <a:srgbClr val="17579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THANK YOU.</a:t>
            </a:r>
          </a:p>
        </p:txBody>
      </p:sp>
      <p:sp>
        <p:nvSpPr>
          <p:cNvPr id="14" name="Freeform: Shape 22">
            <a:extLst>
              <a:ext uri="{FF2B5EF4-FFF2-40B4-BE49-F238E27FC236}">
                <a16:creationId xmlns:a16="http://schemas.microsoft.com/office/drawing/2014/main" id="{FDBE1D06-C395-24AE-4920-3DD2AD828565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7716482" y="2"/>
            <a:ext cx="4475521" cy="4450300"/>
          </a:xfrm>
          <a:custGeom>
            <a:avLst/>
            <a:gdLst>
              <a:gd name="connsiteX0" fmla="*/ 4757495 w 5851025"/>
              <a:gd name="connsiteY0" fmla="*/ 0 h 5819568"/>
              <a:gd name="connsiteX1" fmla="*/ 5529880 w 5851025"/>
              <a:gd name="connsiteY1" fmla="*/ 316157 h 5819568"/>
              <a:gd name="connsiteX2" fmla="*/ 5529880 w 5851025"/>
              <a:gd name="connsiteY2" fmla="*/ 1853896 h 5819568"/>
              <a:gd name="connsiteX3" fmla="*/ 5529675 w 5851025"/>
              <a:gd name="connsiteY3" fmla="*/ 1854082 h 5819568"/>
              <a:gd name="connsiteX4" fmla="*/ 5529737 w 5851025"/>
              <a:gd name="connsiteY4" fmla="*/ 1854144 h 5819568"/>
              <a:gd name="connsiteX5" fmla="*/ 1564312 w 5851025"/>
              <a:gd name="connsiteY5" fmla="*/ 5819568 h 5819568"/>
              <a:gd name="connsiteX6" fmla="*/ 0 w 5851025"/>
              <a:gd name="connsiteY6" fmla="*/ 5819568 h 5819568"/>
              <a:gd name="connsiteX7" fmla="*/ 0 w 5851025"/>
              <a:gd name="connsiteY7" fmla="*/ 4299415 h 5819568"/>
              <a:gd name="connsiteX8" fmla="*/ 3986608 w 5851025"/>
              <a:gd name="connsiteY8" fmla="*/ 319427 h 5819568"/>
              <a:gd name="connsiteX9" fmla="*/ 3989570 w 5851025"/>
              <a:gd name="connsiteY9" fmla="*/ 316157 h 5819568"/>
              <a:gd name="connsiteX10" fmla="*/ 4757495 w 5851025"/>
              <a:gd name="connsiteY10" fmla="*/ 0 h 581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1025" h="5819568">
                <a:moveTo>
                  <a:pt x="4757495" y="0"/>
                </a:moveTo>
                <a:cubicBezTo>
                  <a:pt x="5036267" y="0"/>
                  <a:pt x="5315783" y="105385"/>
                  <a:pt x="5529880" y="316157"/>
                </a:cubicBezTo>
                <a:cubicBezTo>
                  <a:pt x="5958074" y="743636"/>
                  <a:pt x="5958074" y="1432354"/>
                  <a:pt x="5529880" y="1853896"/>
                </a:cubicBezTo>
                <a:lnTo>
                  <a:pt x="5529675" y="1854082"/>
                </a:lnTo>
                <a:lnTo>
                  <a:pt x="5529737" y="1854144"/>
                </a:lnTo>
                <a:lnTo>
                  <a:pt x="1564312" y="5819568"/>
                </a:lnTo>
                <a:lnTo>
                  <a:pt x="0" y="5819568"/>
                </a:lnTo>
                <a:lnTo>
                  <a:pt x="0" y="4299415"/>
                </a:lnTo>
                <a:lnTo>
                  <a:pt x="3986608" y="319427"/>
                </a:lnTo>
                <a:lnTo>
                  <a:pt x="3989570" y="316157"/>
                </a:lnTo>
                <a:cubicBezTo>
                  <a:pt x="4200694" y="105385"/>
                  <a:pt x="4478723" y="0"/>
                  <a:pt x="4757495" y="0"/>
                </a:cubicBezTo>
                <a:close/>
              </a:path>
            </a:pathLst>
          </a:custGeom>
          <a:solidFill>
            <a:srgbClr val="175791">
              <a:alpha val="12000"/>
            </a:srgbClr>
          </a:solidFill>
          <a:ln w="9525">
            <a:noFill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 sz="2401"/>
          </a:p>
        </p:txBody>
      </p:sp>
      <p:sp>
        <p:nvSpPr>
          <p:cNvPr id="15" name="Freeform: Shape 22">
            <a:extLst>
              <a:ext uri="{FF2B5EF4-FFF2-40B4-BE49-F238E27FC236}">
                <a16:creationId xmlns:a16="http://schemas.microsoft.com/office/drawing/2014/main" id="{F7D5DFA0-E984-BF3C-4098-9F9D1B08B5DF}"/>
              </a:ext>
            </a:extLst>
          </p:cNvPr>
          <p:cNvSpPr>
            <a:spLocks/>
          </p:cNvSpPr>
          <p:nvPr userDrawn="1"/>
        </p:nvSpPr>
        <p:spPr bwMode="auto">
          <a:xfrm>
            <a:off x="-11616" y="1726991"/>
            <a:ext cx="4375116" cy="4350461"/>
          </a:xfrm>
          <a:custGeom>
            <a:avLst/>
            <a:gdLst>
              <a:gd name="connsiteX0" fmla="*/ 4757495 w 5851025"/>
              <a:gd name="connsiteY0" fmla="*/ 0 h 5819568"/>
              <a:gd name="connsiteX1" fmla="*/ 5529880 w 5851025"/>
              <a:gd name="connsiteY1" fmla="*/ 316157 h 5819568"/>
              <a:gd name="connsiteX2" fmla="*/ 5529880 w 5851025"/>
              <a:gd name="connsiteY2" fmla="*/ 1853896 h 5819568"/>
              <a:gd name="connsiteX3" fmla="*/ 5529675 w 5851025"/>
              <a:gd name="connsiteY3" fmla="*/ 1854082 h 5819568"/>
              <a:gd name="connsiteX4" fmla="*/ 5529737 w 5851025"/>
              <a:gd name="connsiteY4" fmla="*/ 1854144 h 5819568"/>
              <a:gd name="connsiteX5" fmla="*/ 1564312 w 5851025"/>
              <a:gd name="connsiteY5" fmla="*/ 5819568 h 5819568"/>
              <a:gd name="connsiteX6" fmla="*/ 0 w 5851025"/>
              <a:gd name="connsiteY6" fmla="*/ 5819568 h 5819568"/>
              <a:gd name="connsiteX7" fmla="*/ 0 w 5851025"/>
              <a:gd name="connsiteY7" fmla="*/ 4299415 h 5819568"/>
              <a:gd name="connsiteX8" fmla="*/ 3986608 w 5851025"/>
              <a:gd name="connsiteY8" fmla="*/ 319427 h 5819568"/>
              <a:gd name="connsiteX9" fmla="*/ 3989570 w 5851025"/>
              <a:gd name="connsiteY9" fmla="*/ 316157 h 5819568"/>
              <a:gd name="connsiteX10" fmla="*/ 4757495 w 5851025"/>
              <a:gd name="connsiteY10" fmla="*/ 0 h 581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1025" h="5819568">
                <a:moveTo>
                  <a:pt x="4757495" y="0"/>
                </a:moveTo>
                <a:cubicBezTo>
                  <a:pt x="5036267" y="0"/>
                  <a:pt x="5315783" y="105385"/>
                  <a:pt x="5529880" y="316157"/>
                </a:cubicBezTo>
                <a:cubicBezTo>
                  <a:pt x="5958074" y="743636"/>
                  <a:pt x="5958074" y="1432354"/>
                  <a:pt x="5529880" y="1853896"/>
                </a:cubicBezTo>
                <a:lnTo>
                  <a:pt x="5529675" y="1854082"/>
                </a:lnTo>
                <a:lnTo>
                  <a:pt x="5529737" y="1854144"/>
                </a:lnTo>
                <a:lnTo>
                  <a:pt x="1564312" y="5819568"/>
                </a:lnTo>
                <a:lnTo>
                  <a:pt x="0" y="5819568"/>
                </a:lnTo>
                <a:lnTo>
                  <a:pt x="0" y="4299415"/>
                </a:lnTo>
                <a:lnTo>
                  <a:pt x="3986608" y="319427"/>
                </a:lnTo>
                <a:lnTo>
                  <a:pt x="3989570" y="316157"/>
                </a:lnTo>
                <a:cubicBezTo>
                  <a:pt x="4200694" y="105385"/>
                  <a:pt x="4478723" y="0"/>
                  <a:pt x="4757495" y="0"/>
                </a:cubicBezTo>
                <a:close/>
              </a:path>
            </a:pathLst>
          </a:custGeom>
          <a:solidFill>
            <a:srgbClr val="175791">
              <a:alpha val="12000"/>
            </a:srgbClr>
          </a:solidFill>
          <a:ln w="9525">
            <a:noFill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 sz="240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13B6FB-C678-28F6-6EF2-BA615FBD73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91523" y="3591817"/>
            <a:ext cx="3874663" cy="1149524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61F27D79-6D50-4967-A3AD-C2F30E6FB479}"/>
              </a:ext>
            </a:extLst>
          </p:cNvPr>
          <p:cNvSpPr/>
          <p:nvPr userDrawn="1"/>
        </p:nvSpPr>
        <p:spPr>
          <a:xfrm>
            <a:off x="0" y="6057900"/>
            <a:ext cx="12191999" cy="800100"/>
          </a:xfrm>
          <a:prstGeom prst="rect">
            <a:avLst/>
          </a:prstGeom>
          <a:solidFill>
            <a:srgbClr val="175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519211E9-862D-E324-45E3-E00F0FD4EBF6}"/>
              </a:ext>
            </a:extLst>
          </p:cNvPr>
          <p:cNvSpPr txBox="1"/>
          <p:nvPr userDrawn="1"/>
        </p:nvSpPr>
        <p:spPr>
          <a:xfrm>
            <a:off x="236626" y="6138446"/>
            <a:ext cx="4025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Adress</a:t>
            </a:r>
            <a:endParaRPr lang="en-US" sz="1200" u="none" strike="noStrike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0B747938-3D50-FD0C-92F9-4382098D2AE5}"/>
              </a:ext>
            </a:extLst>
          </p:cNvPr>
          <p:cNvSpPr txBox="1"/>
          <p:nvPr userDrawn="1"/>
        </p:nvSpPr>
        <p:spPr>
          <a:xfrm>
            <a:off x="236626" y="6525796"/>
            <a:ext cx="4025900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서울시 영등포구 </a:t>
            </a:r>
            <a:r>
              <a:rPr lang="ko-KR" alt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선유로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114 </a:t>
            </a:r>
            <a:r>
              <a:rPr lang="ko-KR" alt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양평자이비즈타워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907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호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3D13603-ED63-E450-1BB0-15C8714A1D03}"/>
              </a:ext>
            </a:extLst>
          </p:cNvPr>
          <p:cNvCxnSpPr/>
          <p:nvPr userDrawn="1"/>
        </p:nvCxnSpPr>
        <p:spPr>
          <a:xfrm>
            <a:off x="3852941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2">
            <a:extLst>
              <a:ext uri="{FF2B5EF4-FFF2-40B4-BE49-F238E27FC236}">
                <a16:creationId xmlns:a16="http://schemas.microsoft.com/office/drawing/2014/main" id="{9E24BF7D-1EA7-A1A8-F866-30930C22DE79}"/>
              </a:ext>
            </a:extLst>
          </p:cNvPr>
          <p:cNvSpPr txBox="1"/>
          <p:nvPr userDrawn="1"/>
        </p:nvSpPr>
        <p:spPr>
          <a:xfrm>
            <a:off x="3977058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Tel/Fax 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0B24E73F-2F86-ED85-A72E-FFFFF1DB0CD1}"/>
              </a:ext>
            </a:extLst>
          </p:cNvPr>
          <p:cNvSpPr txBox="1"/>
          <p:nvPr userDrawn="1"/>
        </p:nvSpPr>
        <p:spPr>
          <a:xfrm>
            <a:off x="3977058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02-2088-2959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745B82A-80FA-5B89-E466-E05919A37C4F}"/>
              </a:ext>
            </a:extLst>
          </p:cNvPr>
          <p:cNvCxnSpPr/>
          <p:nvPr userDrawn="1"/>
        </p:nvCxnSpPr>
        <p:spPr>
          <a:xfrm>
            <a:off x="6310137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2">
            <a:extLst>
              <a:ext uri="{FF2B5EF4-FFF2-40B4-BE49-F238E27FC236}">
                <a16:creationId xmlns:a16="http://schemas.microsoft.com/office/drawing/2014/main" id="{AA5EE220-A261-C253-5F41-674A5FC0157C}"/>
              </a:ext>
            </a:extLst>
          </p:cNvPr>
          <p:cNvSpPr txBox="1"/>
          <p:nvPr userDrawn="1"/>
        </p:nvSpPr>
        <p:spPr>
          <a:xfrm>
            <a:off x="6396483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Email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560B7D68-9657-E4E6-78B7-FC4DE7CC257E}"/>
              </a:ext>
            </a:extLst>
          </p:cNvPr>
          <p:cNvSpPr txBox="1"/>
          <p:nvPr userDrawn="1"/>
        </p:nvSpPr>
        <p:spPr>
          <a:xfrm>
            <a:off x="6396483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admin@dxel.co.kr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6D00A43-6094-3E83-E346-79F58ECDA3CC}"/>
              </a:ext>
            </a:extLst>
          </p:cNvPr>
          <p:cNvCxnSpPr/>
          <p:nvPr userDrawn="1"/>
        </p:nvCxnSpPr>
        <p:spPr>
          <a:xfrm>
            <a:off x="9109028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2">
            <a:extLst>
              <a:ext uri="{FF2B5EF4-FFF2-40B4-BE49-F238E27FC236}">
                <a16:creationId xmlns:a16="http://schemas.microsoft.com/office/drawing/2014/main" id="{3978E259-E09E-0BBA-07EA-0BD924AFCFF4}"/>
              </a:ext>
            </a:extLst>
          </p:cNvPr>
          <p:cNvSpPr txBox="1"/>
          <p:nvPr userDrawn="1"/>
        </p:nvSpPr>
        <p:spPr>
          <a:xfrm>
            <a:off x="9195374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Home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Page</a:t>
            </a:r>
            <a:endParaRPr lang="en-US" sz="1200" u="none" strike="noStrike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1956E6E7-4702-69B2-6562-F4AB0A0E665C}"/>
              </a:ext>
            </a:extLst>
          </p:cNvPr>
          <p:cNvSpPr txBox="1"/>
          <p:nvPr userDrawn="1"/>
        </p:nvSpPr>
        <p:spPr>
          <a:xfrm>
            <a:off x="9195374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www.dxel.co.kr</a:t>
            </a:r>
          </a:p>
        </p:txBody>
      </p:sp>
    </p:spTree>
    <p:extLst>
      <p:ext uri="{BB962C8B-B14F-4D97-AF65-F5344CB8AC3E}">
        <p14:creationId xmlns:p14="http://schemas.microsoft.com/office/powerpoint/2010/main" val="1893782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82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6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/>
  <p:txStyles>
    <p:titleStyle>
      <a:lvl1pPr algn="l" defTabSz="1219184" rtl="0" eaLnBrk="1" latinLnBrk="1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8" indent="-304798" algn="l" defTabSz="1219184" rtl="0" eaLnBrk="1" latinLnBrk="1" hangingPunct="1">
        <a:lnSpc>
          <a:spcPct val="90000"/>
        </a:lnSpc>
        <a:spcBef>
          <a:spcPts val="1335"/>
        </a:spcBef>
        <a:buFont typeface="3ds Condensed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89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82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75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4pPr>
      <a:lvl5pPr marL="2743167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5pPr>
      <a:lvl6pPr marL="3352759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6pPr>
      <a:lvl7pPr marL="3962352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7pPr>
      <a:lvl8pPr marL="4571944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8pPr>
      <a:lvl9pPr marL="5181536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609593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2pPr>
      <a:lvl3pPr marL="1219184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3pPr>
      <a:lvl4pPr marL="1828777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4pPr>
      <a:lvl5pPr marL="2438370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5pPr>
      <a:lvl6pPr marL="3047962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6pPr>
      <a:lvl7pPr marL="3657554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7pPr>
      <a:lvl8pPr marL="4267147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8pPr>
      <a:lvl9pPr marL="4876739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tsm.tym.world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ABBEAD-13B5-2D2C-7BE3-AB3B8DBE5FD8}"/>
              </a:ext>
            </a:extLst>
          </p:cNvPr>
          <p:cNvSpPr txBox="1"/>
          <p:nvPr/>
        </p:nvSpPr>
        <p:spPr>
          <a:xfrm>
            <a:off x="563934" y="653474"/>
            <a:ext cx="47852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DXel</a:t>
            </a:r>
            <a:r>
              <a:rPr lang="ko-KR" altLang="en-US" sz="4000" b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주간 업무 보고서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ADDA9A-2589-DEC7-F050-BFC24F63A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862127"/>
              </p:ext>
            </p:extLst>
          </p:nvPr>
        </p:nvGraphicFramePr>
        <p:xfrm>
          <a:off x="5389420" y="4902331"/>
          <a:ext cx="6271492" cy="12149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6544">
                  <a:extLst>
                    <a:ext uri="{9D8B030D-6E8A-4147-A177-3AD203B41FA5}">
                      <a16:colId xmlns:a16="http://schemas.microsoft.com/office/drawing/2014/main" val="920059606"/>
                    </a:ext>
                  </a:extLst>
                </a:gridCol>
                <a:gridCol w="4354948">
                  <a:extLst>
                    <a:ext uri="{9D8B030D-6E8A-4147-A177-3AD203B41FA5}">
                      <a16:colId xmlns:a16="http://schemas.microsoft.com/office/drawing/2014/main" val="3314683994"/>
                    </a:ext>
                  </a:extLst>
                </a:gridCol>
              </a:tblGrid>
              <a:tr h="6074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보고일자</a:t>
                      </a:r>
                      <a:endParaRPr lang="ko-KR" altLang="en-US" b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altLang="ko-KR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2026.05.11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05067"/>
                  </a:ext>
                </a:extLst>
              </a:tr>
              <a:tr h="6074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센터장</a:t>
                      </a:r>
                      <a:endParaRPr lang="en-US" altLang="ko-KR" b="0" dirty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김래현</a:t>
                      </a:r>
                      <a:endParaRPr lang="ko-KR" altLang="en-US" b="0" dirty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2446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46E9705-4C0A-DDF3-6154-A56907063C22}"/>
              </a:ext>
            </a:extLst>
          </p:cNvPr>
          <p:cNvSpPr txBox="1"/>
          <p:nvPr/>
        </p:nvSpPr>
        <p:spPr>
          <a:xfrm>
            <a:off x="3048000" y="310578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320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경영지원 센터</a:t>
            </a:r>
          </a:p>
        </p:txBody>
      </p:sp>
    </p:spTree>
    <p:extLst>
      <p:ext uri="{BB962C8B-B14F-4D97-AF65-F5344CB8AC3E}">
        <p14:creationId xmlns:p14="http://schemas.microsoft.com/office/powerpoint/2010/main" val="73237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9876C-C8F6-8C2B-87D0-C3F4273EB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4DB188E-19E0-F309-718C-A0ABD07E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공지사항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69485-C366-118D-FD08-6BE3D8D3EA85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(*)Online</a:t>
            </a:r>
            <a:endParaRPr lang="ko-KR" altLang="en-US" sz="100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F4104B2-EABB-7252-F999-38D55D4DC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859073"/>
              </p:ext>
            </p:extLst>
          </p:nvPr>
        </p:nvGraphicFramePr>
        <p:xfrm>
          <a:off x="631572" y="1127916"/>
          <a:ext cx="10826136" cy="514588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413068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5413068">
                  <a:extLst>
                    <a:ext uri="{9D8B030D-6E8A-4147-A177-3AD203B41FA5}">
                      <a16:colId xmlns:a16="http://schemas.microsoft.com/office/drawing/2014/main" val="2318444150"/>
                    </a:ext>
                  </a:extLst>
                </a:gridCol>
              </a:tblGrid>
              <a:tr h="38242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공지사항</a:t>
                      </a:r>
                      <a:endParaRPr lang="ko-KR" altLang="en-US" sz="1100" b="1" i="0" u="none" strike="noStrike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4763464">
                <a:tc>
                  <a:txBody>
                    <a:bodyPr/>
                    <a:lstStyle/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국책과제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대중소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디지털협업과제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종료에 따른 정산 및 감사 진행 중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정산기간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26.04.01 ~ 26.05.15 (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태성회계법인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- 2024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2025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 미흡자료 소명자료 제출 완료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회계법인에서 미흡 건 재 검토 진행 중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AI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자율제조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종료에 따른 정산 서류 취합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정산서류 업로드 일정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26.04.01 ~ 26.04.30 (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삼화회계법인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PM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및 관련 담당자에게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정산서류 제출 완료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08000" marR="0" marT="360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4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08000" marR="0" marT="360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4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8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61CFA3B-AA12-46B6-C057-D45E8CE5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경영지원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35B07-CDAA-9A57-2F9A-44409A3A7CA4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(*)Online</a:t>
            </a:r>
            <a:endParaRPr lang="ko-KR" altLang="en-US" sz="100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2FADFE4-6140-064F-B470-E71EBD867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20318"/>
              </p:ext>
            </p:extLst>
          </p:nvPr>
        </p:nvGraphicFramePr>
        <p:xfrm>
          <a:off x="555373" y="870941"/>
          <a:ext cx="10826135" cy="568336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429791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5396344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</a:tblGrid>
              <a:tr h="37786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12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금주 업무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(4/27 ~ 5/8)</a:t>
                      </a:r>
                    </a:p>
                  </a:txBody>
                  <a:tcPr marL="94401" marR="94401" marT="37747" marB="377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12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차주 계획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 ~ 5/15)</a:t>
                      </a:r>
                    </a:p>
                  </a:txBody>
                  <a:tcPr marL="94401" marR="94401" marT="37747" marB="37747" anchor="ctr" horzOverflow="overflow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4983127">
                <a:tc>
                  <a:txBody>
                    <a:bodyPr/>
                    <a:lstStyle/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1.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국책과제 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대중소협업플랫폼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24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25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 미흡 대응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</a:t>
                      </a: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경영지원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병역지정 컨섩팅 필수 제출 서류 제출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: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법인등기부등본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사업자등록증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중소기업확인서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고용보험 사업자 자격취득 명부 외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27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이노비즈 컨설팅 현장 미팅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(5/8)</a:t>
                      </a: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: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참석자 김남웅 이사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신용환 선임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: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이노비즈 실사 준비 서류 취합 진행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: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국책과제 회의록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연구노트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수습사원업무평가서 외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15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기술신용보증 보증서 발급 진행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: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당사 실사 및 인터뷰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5/6</a:t>
                      </a:r>
                      <a:b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  :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필수서류제출완료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법인등기부등본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국세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지방세 완납증명서 외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69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서울디지텍고 지원자 명단 면접 일정 확정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: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면접 장소 서울디지텍고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: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면접 일시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 05. 12(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화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13:30</a:t>
                      </a: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- 4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업체 대금 지급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- 4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정직원 경비 지급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회사 현판 설치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- 2026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 근로기준 및 노무업무 개정에 따른 노무사 컨설팅 및 인터뷰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0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4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국책과제 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대중소협업플랫폼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24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25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 미흡 대응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경영지원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- 2025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 기업부설연구소 연구개발활동조사 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: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제출 기한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 05. 15(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: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현장 실사 조사 대신 온라인으로 진행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rgbClr val="EE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연구개발활동 개요서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연구개발계획서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연구노트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연구소 변경 도면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병역지정 가점 대상 가입 진행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: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복지플랫폼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내일채움공제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: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가입 대상자는 개별 메일 공지 예정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- </a:t>
                      </a:r>
                      <a:r>
                        <a:rPr lang="ko-KR" altLang="en-US" sz="9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이노비즈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인증 진행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90488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: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사업자등록증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법인등기부등본 외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13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 원본 등기 발송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0000" marB="72000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4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87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831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ABBEAD-13B5-2D2C-7BE3-AB3B8DBE5FD8}"/>
              </a:ext>
            </a:extLst>
          </p:cNvPr>
          <p:cNvSpPr txBox="1"/>
          <p:nvPr/>
        </p:nvSpPr>
        <p:spPr>
          <a:xfrm>
            <a:off x="563934" y="653474"/>
            <a:ext cx="47852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DXel</a:t>
            </a:r>
            <a:r>
              <a:rPr lang="ko-KR" altLang="en-US" sz="4000" b="1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주간 업무 보고서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ADDA9A-2589-DEC7-F050-BFC24F63A290}"/>
              </a:ext>
            </a:extLst>
          </p:cNvPr>
          <p:cNvGraphicFramePr>
            <a:graphicFrameLocks noGrp="1"/>
          </p:cNvGraphicFramePr>
          <p:nvPr/>
        </p:nvGraphicFramePr>
        <p:xfrm>
          <a:off x="5389420" y="4902331"/>
          <a:ext cx="6271492" cy="12149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6544">
                  <a:extLst>
                    <a:ext uri="{9D8B030D-6E8A-4147-A177-3AD203B41FA5}">
                      <a16:colId xmlns:a16="http://schemas.microsoft.com/office/drawing/2014/main" val="920059606"/>
                    </a:ext>
                  </a:extLst>
                </a:gridCol>
                <a:gridCol w="4354948">
                  <a:extLst>
                    <a:ext uri="{9D8B030D-6E8A-4147-A177-3AD203B41FA5}">
                      <a16:colId xmlns:a16="http://schemas.microsoft.com/office/drawing/2014/main" val="3314683994"/>
                    </a:ext>
                  </a:extLst>
                </a:gridCol>
              </a:tblGrid>
              <a:tr h="6074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보고일자</a:t>
                      </a:r>
                      <a:endParaRPr lang="ko-KR" altLang="en-US" b="0" dirty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altLang="ko-KR" b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2026.05.11</a:t>
                      </a:r>
                      <a:endParaRPr lang="en-US" altLang="ko-KR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05067"/>
                  </a:ext>
                </a:extLst>
              </a:tr>
              <a:tr h="6074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센터장</a:t>
                      </a:r>
                      <a:endParaRPr lang="en-US" altLang="ko-KR" b="0" dirty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김남웅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2446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46E9705-4C0A-DDF3-6154-A56907063C22}"/>
              </a:ext>
            </a:extLst>
          </p:cNvPr>
          <p:cNvSpPr txBox="1"/>
          <p:nvPr/>
        </p:nvSpPr>
        <p:spPr>
          <a:xfrm>
            <a:off x="3048000" y="310578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32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Business Center</a:t>
            </a:r>
            <a:endParaRPr lang="ko-KR" altLang="en-US" sz="32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490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61CFA3B-AA12-46B6-C057-D45E8CE5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PROJECT : </a:t>
            </a:r>
            <a:r>
              <a:rPr lang="ko-KR" altLang="en-US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대한전선 </a:t>
            </a:r>
            <a:r>
              <a:rPr lang="en-US" altLang="ko-KR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IoT</a:t>
            </a:r>
            <a:endParaRPr lang="en-US" altLang="ko-KR" sz="2400" b="0" kern="1200" dirty="0">
              <a:solidFill>
                <a:schemeClr val="tx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35B07-CDAA-9A57-2F9A-44409A3A7CA4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(*)Online</a:t>
            </a:r>
            <a:endParaRPr lang="ko-KR" altLang="en-US" sz="100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2FADFE4-6140-064F-B470-E71EBD8673D3}"/>
              </a:ext>
            </a:extLst>
          </p:cNvPr>
          <p:cNvGraphicFramePr>
            <a:graphicFrameLocks noGrp="1"/>
          </p:cNvGraphicFramePr>
          <p:nvPr/>
        </p:nvGraphicFramePr>
        <p:xfrm>
          <a:off x="631572" y="2604656"/>
          <a:ext cx="3594064" cy="3519053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88519">
                  <a:extLst>
                    <a:ext uri="{9D8B030D-6E8A-4147-A177-3AD203B41FA5}">
                      <a16:colId xmlns:a16="http://schemas.microsoft.com/office/drawing/2014/main" val="634884187"/>
                    </a:ext>
                  </a:extLst>
                </a:gridCol>
                <a:gridCol w="1008513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176562588"/>
                    </a:ext>
                  </a:extLst>
                </a:gridCol>
              </a:tblGrid>
              <a:tr h="369073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투입자</a:t>
                      </a:r>
                      <a:endParaRPr lang="ko-KR" altLang="en-US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종료일자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PM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김무현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이용현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724310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김남웅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68690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SCADA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아람시스템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967356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PLC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이루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FA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569684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Network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틸리언씨엔씨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959594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897790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340284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089026"/>
                  </a:ext>
                </a:extLst>
              </a:tr>
              <a:tr h="33982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8746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38D3C07-036E-67E9-B70A-FB79B46C4BAE}"/>
              </a:ext>
            </a:extLst>
          </p:cNvPr>
          <p:cNvGraphicFramePr>
            <a:graphicFrameLocks noGrp="1"/>
          </p:cNvGraphicFramePr>
          <p:nvPr/>
        </p:nvGraphicFramePr>
        <p:xfrm>
          <a:off x="631571" y="891697"/>
          <a:ext cx="3594063" cy="129240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837946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1756117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</a:tblGrid>
              <a:tr h="4022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105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fontAlgn="ctr"/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금월 투입 </a:t>
                      </a:r>
                      <a:r>
                        <a:rPr lang="en-US" altLang="ko-K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누적 투입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익월 투입 예상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D3490C7-9578-C8E0-2EB4-5C3ED402757E}"/>
              </a:ext>
            </a:extLst>
          </p:cNvPr>
          <p:cNvGraphicFramePr>
            <a:graphicFrameLocks noGrp="1"/>
          </p:cNvGraphicFramePr>
          <p:nvPr/>
        </p:nvGraphicFramePr>
        <p:xfrm>
          <a:off x="4433455" y="891698"/>
          <a:ext cx="7126973" cy="129240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142252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2462268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  <a:gridCol w="1153125">
                  <a:extLst>
                    <a:ext uri="{9D8B030D-6E8A-4147-A177-3AD203B41FA5}">
                      <a16:colId xmlns:a16="http://schemas.microsoft.com/office/drawing/2014/main" val="3073445094"/>
                    </a:ext>
                  </a:extLst>
                </a:gridCol>
                <a:gridCol w="2369328">
                  <a:extLst>
                    <a:ext uri="{9D8B030D-6E8A-4147-A177-3AD203B41FA5}">
                      <a16:colId xmlns:a16="http://schemas.microsoft.com/office/drawing/2014/main" val="973327844"/>
                    </a:ext>
                  </a:extLst>
                </a:gridCol>
              </a:tblGrid>
              <a:tr h="41062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900" kern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5/15</a:t>
                      </a:r>
                      <a:endParaRPr lang="ko-KR" altLang="en-US" sz="9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설비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IoT 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데이터수집 잔금 계산서 발행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5/8</a:t>
                      </a:r>
                      <a:endParaRPr lang="ko-KR" altLang="en-US" sz="900" kern="12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외관검사기 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 확산 일부 발주</a:t>
                      </a:r>
                      <a:endParaRPr lang="en-US" altLang="ko-KR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초고압 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2D 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테핑 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커스터마이징 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5/18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산업전선 케이블 공장 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IoT 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인프라개선 프로젝트 실사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7F87A4-89C0-4162-1117-5E5A99FCE131}"/>
              </a:ext>
            </a:extLst>
          </p:cNvPr>
          <p:cNvGraphicFramePr>
            <a:graphicFrameLocks noGrp="1"/>
          </p:cNvGraphicFramePr>
          <p:nvPr/>
        </p:nvGraphicFramePr>
        <p:xfrm>
          <a:off x="4433455" y="2604654"/>
          <a:ext cx="7126972" cy="3515257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563486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3563486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</a:tblGrid>
              <a:tr h="374073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 </a:t>
                      </a:r>
                      <a:r>
                        <a:rPr lang="ko-KR" altLang="en-US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현황 </a:t>
                      </a:r>
                      <a:r>
                        <a:rPr lang="en-US" altLang="ko-KR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(04/27 ~ 05/08)</a:t>
                      </a:r>
                      <a:endParaRPr lang="en-US" altLang="ko-KR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향후일정 </a:t>
                      </a:r>
                      <a:r>
                        <a:rPr lang="en-US" altLang="ko-KR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(5/11~5/15)</a:t>
                      </a:r>
                      <a:endParaRPr lang="ko-KR" altLang="en-US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141184">
                <a:tc>
                  <a:txBody>
                    <a:bodyPr/>
                    <a:lstStyle/>
                    <a:p>
                      <a:pPr marL="228600" indent="-228600" algn="l" defTabSz="1219184" rtl="0" eaLnBrk="1" fontAlgn="ctr" latinLnBrk="1" hangingPunct="1">
                        <a:lnSpc>
                          <a:spcPct val="130000"/>
                        </a:lnSpc>
                        <a:buAutoNum type="arabicPeriod"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SCADA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값 검증 작업 지속 진행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상세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View)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초고압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해저 설비 보완사항 개선 중 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- SCADA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개발팀 오프라인 지원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(5/11)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알람 및 스케일 맞춤확인 작업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indent="-228600" algn="l" defTabSz="1219184" rtl="0" eaLnBrk="1" fontAlgn="ctr" latinLnBrk="1" hangingPunct="1">
                        <a:lnSpc>
                          <a:spcPct val="130000"/>
                        </a:lnSpc>
                        <a:buAutoNum type="arabicPeriod" startAt="2"/>
                      </a:pP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해저공장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700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톤 턴테이블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5, 6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호기 하이박스 탈거 완료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설비 이설 진행으로 인한 하이박스 탈거 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</a:t>
                      </a:r>
                    </a:p>
                  </a:txBody>
                  <a:tcPr marT="10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1219184" rtl="0" eaLnBrk="1" fontAlgn="ctr" latinLnBrk="1" hangingPunct="1">
                        <a:lnSpc>
                          <a:spcPct val="130000"/>
                        </a:lnSpc>
                        <a:buAutoNum type="arabicPeriod"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SCADA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보완사항 마무리 예정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알람 및 스케일 맞춤작업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T="108000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356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61CFA3B-AA12-46B6-C057-D45E8CE50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6361659" cy="561944"/>
          </a:xfrm>
        </p:spPr>
        <p:txBody>
          <a:bodyPr/>
          <a:lstStyle/>
          <a:p>
            <a:r>
              <a:rPr lang="en-US" altLang="ko-KR" sz="2400" b="0" kern="120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PROJECT : HD</a:t>
            </a:r>
            <a:r>
              <a:rPr lang="ko-KR" altLang="en-US" sz="2400" b="0" kern="120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현대건설기계 </a:t>
            </a:r>
            <a:r>
              <a:rPr lang="en-US" altLang="ko-KR" sz="2400" b="0" kern="120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RTLS </a:t>
            </a:r>
            <a:r>
              <a:rPr lang="ko-KR" altLang="en-US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유지보수</a:t>
            </a:r>
            <a:endParaRPr lang="ko-KR" altLang="en-US" b="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35B07-CDAA-9A57-2F9A-44409A3A7CA4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(*)Online</a:t>
            </a:r>
            <a:endParaRPr lang="ko-KR" altLang="en-US" sz="100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2FADFE4-6140-064F-B470-E71EBD8673D3}"/>
              </a:ext>
            </a:extLst>
          </p:cNvPr>
          <p:cNvGraphicFramePr>
            <a:graphicFrameLocks noGrp="1"/>
          </p:cNvGraphicFramePr>
          <p:nvPr/>
        </p:nvGraphicFramePr>
        <p:xfrm>
          <a:off x="631572" y="2604656"/>
          <a:ext cx="3594064" cy="372362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98516">
                  <a:extLst>
                    <a:ext uri="{9D8B030D-6E8A-4147-A177-3AD203B41FA5}">
                      <a16:colId xmlns:a16="http://schemas.microsoft.com/office/drawing/2014/main" val="1598803851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176562588"/>
                    </a:ext>
                  </a:extLst>
                </a:gridCol>
              </a:tblGrid>
              <a:tr h="393614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투입자</a:t>
                      </a:r>
                      <a:endParaRPr lang="ko-KR" altLang="en-US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종료일자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330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PM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안재홍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2025.11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2026.11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  <a:tr h="333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724310"/>
                  </a:ext>
                </a:extLst>
              </a:tr>
              <a:tr h="333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68690"/>
                  </a:ext>
                </a:extLst>
              </a:tr>
              <a:tr h="333001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967356"/>
                  </a:ext>
                </a:extLst>
              </a:tr>
              <a:tr h="333001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569684"/>
                  </a:ext>
                </a:extLst>
              </a:tr>
              <a:tr h="333001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959594"/>
                  </a:ext>
                </a:extLst>
              </a:tr>
              <a:tr h="333001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897790"/>
                  </a:ext>
                </a:extLst>
              </a:tr>
              <a:tr h="333001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340284"/>
                  </a:ext>
                </a:extLst>
              </a:tr>
              <a:tr h="333001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089026"/>
                  </a:ext>
                </a:extLst>
              </a:tr>
              <a:tr h="333001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8746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38D3C07-036E-67E9-B70A-FB79B46C4BAE}"/>
              </a:ext>
            </a:extLst>
          </p:cNvPr>
          <p:cNvGraphicFramePr>
            <a:graphicFrameLocks noGrp="1"/>
          </p:cNvGraphicFramePr>
          <p:nvPr/>
        </p:nvGraphicFramePr>
        <p:xfrm>
          <a:off x="631571" y="891697"/>
          <a:ext cx="3594063" cy="129240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837946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1756117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</a:tblGrid>
              <a:tr h="4022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투입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최대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endParaRPr lang="ko-KR" altLang="en-US" sz="105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fontAlgn="ctr"/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금월 투입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누적 투입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익월 투입 예상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D3490C7-9578-C8E0-2EB4-5C3ED402757E}"/>
              </a:ext>
            </a:extLst>
          </p:cNvPr>
          <p:cNvGraphicFramePr>
            <a:graphicFrameLocks noGrp="1"/>
          </p:cNvGraphicFramePr>
          <p:nvPr/>
        </p:nvGraphicFramePr>
        <p:xfrm>
          <a:off x="4433455" y="891698"/>
          <a:ext cx="7126973" cy="129240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142252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2462268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  <a:gridCol w="1153125">
                  <a:extLst>
                    <a:ext uri="{9D8B030D-6E8A-4147-A177-3AD203B41FA5}">
                      <a16:colId xmlns:a16="http://schemas.microsoft.com/office/drawing/2014/main" val="3073445094"/>
                    </a:ext>
                  </a:extLst>
                </a:gridCol>
                <a:gridCol w="2369328">
                  <a:extLst>
                    <a:ext uri="{9D8B030D-6E8A-4147-A177-3AD203B41FA5}">
                      <a16:colId xmlns:a16="http://schemas.microsoft.com/office/drawing/2014/main" val="973327844"/>
                    </a:ext>
                  </a:extLst>
                </a:gridCol>
              </a:tblGrid>
              <a:tr h="41062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marL="0" indent="90488" algn="ctr" fontAlgn="ctr"/>
                      <a:r>
                        <a:rPr lang="en-US" altLang="ko-KR" sz="900" b="0" i="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4/27</a:t>
                      </a:r>
                      <a:endParaRPr lang="ko-KR" altLang="en-US" sz="9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유지보수 인보이스 및 계산서 발행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7F87A4-89C0-4162-1117-5E5A99FCE131}"/>
              </a:ext>
            </a:extLst>
          </p:cNvPr>
          <p:cNvGraphicFramePr>
            <a:graphicFrameLocks noGrp="1"/>
          </p:cNvGraphicFramePr>
          <p:nvPr/>
        </p:nvGraphicFramePr>
        <p:xfrm>
          <a:off x="4320387" y="2604654"/>
          <a:ext cx="7634320" cy="3515257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817160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3817160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</a:tblGrid>
              <a:tr h="374073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 </a:t>
                      </a:r>
                      <a:r>
                        <a:rPr lang="ko-KR" altLang="en-US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현황 </a:t>
                      </a:r>
                      <a:r>
                        <a:rPr lang="en-US" altLang="ko-KR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(04/27 ~ 05/08)</a:t>
                      </a:r>
                      <a:endParaRPr lang="en-US" altLang="ko-KR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향후일정 </a:t>
                      </a:r>
                      <a:r>
                        <a:rPr lang="en-US" altLang="ko-KR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(5/11~5/15)</a:t>
                      </a:r>
                      <a:endParaRPr lang="ko-KR" altLang="en-US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141184">
                <a:tc>
                  <a:txBody>
                    <a:bodyPr/>
                    <a:lstStyle/>
                    <a:p>
                      <a:pPr algn="l" defTabSz="1219184" rtl="0" eaLnBrk="1" fontAlgn="ctr" latinLnBrk="1" hangingPunct="1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 </a:t>
                      </a:r>
                      <a:r>
                        <a:rPr lang="ko-KR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현대 건설 기계 대형 하부 장애 대응</a:t>
                      </a:r>
                    </a:p>
                    <a:p>
                      <a:pPr algn="l" defTabSz="1219184" rtl="0" eaLnBrk="1" fontAlgn="ctr" latinLnBrk="1" hangingPunct="1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- </a:t>
                      </a:r>
                      <a:r>
                        <a:rPr lang="ko-KR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장애 발생 시간 로그 데이터 백업</a:t>
                      </a:r>
                    </a:p>
                    <a:p>
                      <a:pPr algn="l" defTabSz="1219184" rtl="0" eaLnBrk="1" fontAlgn="ctr" latinLnBrk="1" hangingPunct="1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- </a:t>
                      </a:r>
                      <a:r>
                        <a:rPr lang="ko-KR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대형 하부 바인딩 후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20</a:t>
                      </a:r>
                      <a:r>
                        <a:rPr lang="ko-KR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공정 직접 진입 버그 개발 서버 적용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l" defTabSz="1219184" rtl="0" eaLnBrk="1" fontAlgn="ctr" latinLnBrk="1" hangingPunct="1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- </a:t>
                      </a:r>
                      <a:r>
                        <a:rPr lang="ko-KR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대형 하부 원격 모니터링</a:t>
                      </a:r>
                    </a:p>
                  </a:txBody>
                  <a:tcPr marT="10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228600" algn="l" defTabSz="1219184" rtl="0" eaLnBrk="1" fontAlgn="ctr" latinLnBrk="1" hangingPunct="1">
                        <a:lnSpc>
                          <a:spcPct val="130000"/>
                        </a:lnSpc>
                        <a:buAutoNum type="arabicPeriod"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5/11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개인연차 신청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indent="-228600" algn="l" defTabSz="1219184" rtl="0" eaLnBrk="1" fontAlgn="ctr" latinLnBrk="1" hangingPunct="1">
                        <a:lnSpc>
                          <a:spcPct val="130000"/>
                        </a:lnSpc>
                        <a:buAutoNum type="arabicPeriod"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5/12~5/15 </a:t>
                      </a:r>
                      <a:r>
                        <a:rPr lang="ko-KR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현대 건설 기계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5</a:t>
                      </a:r>
                      <a:r>
                        <a:rPr lang="ko-KR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유지 보수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대형 하부라인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공정 중복 진입 버그의 운영반영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대형 하부구간 집중 모니터링 실시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- RealTrek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신규 서버에 재설치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108000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522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93777-6E04-F20F-113B-B97B7DEA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9737931-1A6A-83BC-34A9-12E483E9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BC</a:t>
            </a:r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업무현황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0B93C-066D-B383-0555-EF50E7DF4E6A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(*)Online</a:t>
            </a:r>
            <a:endParaRPr lang="ko-KR" altLang="en-US" sz="100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9F97C2A-AFAC-3DA7-BA9B-A2993F15EE00}"/>
              </a:ext>
            </a:extLst>
          </p:cNvPr>
          <p:cNvGraphicFramePr>
            <a:graphicFrameLocks noGrp="1"/>
          </p:cNvGraphicFramePr>
          <p:nvPr/>
        </p:nvGraphicFramePr>
        <p:xfrm>
          <a:off x="631571" y="814754"/>
          <a:ext cx="10860774" cy="5366611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77336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4530437">
                  <a:extLst>
                    <a:ext uri="{9D8B030D-6E8A-4147-A177-3AD203B41FA5}">
                      <a16:colId xmlns:a16="http://schemas.microsoft.com/office/drawing/2014/main" val="692652296"/>
                    </a:ext>
                  </a:extLst>
                </a:gridCol>
                <a:gridCol w="4953001">
                  <a:extLst>
                    <a:ext uri="{9D8B030D-6E8A-4147-A177-3AD203B41FA5}">
                      <a16:colId xmlns:a16="http://schemas.microsoft.com/office/drawing/2014/main" val="2352400565"/>
                    </a:ext>
                  </a:extLst>
                </a:gridCol>
              </a:tblGrid>
              <a:tr h="51728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12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지원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401" marR="94401" marT="37747" marB="377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 </a:t>
                      </a:r>
                      <a:r>
                        <a:rPr lang="ko-KR" altLang="en-US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현황 </a:t>
                      </a:r>
                      <a:r>
                        <a:rPr lang="en-US" altLang="ko-KR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(04/27 ~ 05/08)</a:t>
                      </a:r>
                      <a:endParaRPr lang="en-US" altLang="ko-KR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향후일정 </a:t>
                      </a:r>
                      <a:r>
                        <a:rPr lang="en-US" altLang="ko-KR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(5/11~5/15)</a:t>
                      </a:r>
                      <a:endParaRPr lang="ko-KR" altLang="en-US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10025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경영지원</a:t>
                      </a:r>
                      <a:endParaRPr lang="en-US" altLang="ko-KR" sz="1000" b="1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4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기술보증기금관련 업무대응 지원 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(5/6)</a:t>
                      </a: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이노비즈 컨설팅 담당자 미팅 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(5/8)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3600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이노비즈 서류준비 대응 지원</a:t>
                      </a:r>
                      <a:endParaRPr lang="en-US" altLang="ko-KR" sz="900" kern="1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우리은행 미팅 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(5/14)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  <a:tr h="7796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0">
                          <a:solidFill>
                            <a:prstClr val="white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TC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4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3600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67984"/>
                  </a:ext>
                </a:extLst>
              </a:tr>
              <a:tr h="11922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0">
                          <a:solidFill>
                            <a:prstClr val="white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DC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4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TYM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켈러브레이션 및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Tag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 끊김 현상 원인 파악</a:t>
                      </a:r>
                      <a:endParaRPr lang="en-US" altLang="ko-KR" sz="900" kern="1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-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네트워크 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OFF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앵커 탈착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셋팅 후 재 설치 작업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(BD30D)-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정상 작동 확인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ko-KR" altLang="ko-KR" sz="900" kern="1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-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 정보가 끊긴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Tag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수거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잔량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56%,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전압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2.73V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전압이 약하여 앵커와의 통신이 원활하지 </a:t>
                      </a:r>
                      <a:endParaRPr lang="en-US" altLang="ko-KR" sz="900" kern="1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 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못했음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-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배터리 교체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(4600A)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및 펌웨어 업그레이 후 정상 작동 확인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ko-KR" altLang="ko-KR" sz="900" kern="1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-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출하 캐빈장 모니터링 테스트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 확인이 되지 않는 일부 지역 확인 로그 확보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재설정 예정</a:t>
                      </a: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- LS1000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동작이 상당히 느림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 표시가 이동 후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3-5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 지연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 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후 나타남</a:t>
                      </a:r>
                      <a:endParaRPr lang="en-US" altLang="ko-KR" sz="900" kern="1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- Tag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펌웨어 업그레이드가 되지 않아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2.75V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이하에서도 바인딩 되어 현장에서 위치 데이터가 </a:t>
                      </a:r>
                      <a:endParaRPr lang="en-US" altLang="ko-KR" sz="900" kern="1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  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끊어지는 현상이 발생함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-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배터리 교체 또는 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Tag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펌웨어 업그레이드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필요함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endParaRPr lang="ko-KR" altLang="ko-KR" sz="900" kern="1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 -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우슈에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Tag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전압 정보를 받을 수 있도록 업데이트 요청을 다시 한번 강하게 해야함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3600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TYM 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로그 분석 및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ini(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설정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파일 수정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626173"/>
                  </a:ext>
                </a:extLst>
              </a:tr>
              <a:tr h="12166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기타</a:t>
                      </a:r>
                      <a:endParaRPr lang="en-US" altLang="ko-KR" sz="1000" b="1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4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국책과제 신청을 위한 업무 지원 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(KMAX, AI</a:t>
                      </a: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Agent, </a:t>
                      </a: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하다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대중소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가온케이블 외관검사기 소개 미팅 참석</a:t>
                      </a:r>
                      <a:endParaRPr lang="en-US" altLang="ko-KR" sz="900" kern="1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루미너스코리아 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TFT </a:t>
                      </a: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대상 회사 및 </a:t>
                      </a: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IFMAP </a:t>
                      </a: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소개 미팅 참석</a:t>
                      </a:r>
                      <a:endParaRPr lang="en-US" altLang="ko-KR" sz="900" kern="1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RTLS </a:t>
                      </a:r>
                      <a:r>
                        <a:rPr lang="ko-KR" altLang="en-US" sz="900" kern="1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제품원가표 및 유지보수 정책 초압 수립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3600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국책과제 신청을 위한 업무 지원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(KMAX, AI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Agent,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하다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대중소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36000" marR="9411" marT="72000" marB="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690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184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ABBEAD-13B5-2D2C-7BE3-AB3B8DBE5FD8}"/>
              </a:ext>
            </a:extLst>
          </p:cNvPr>
          <p:cNvSpPr txBox="1"/>
          <p:nvPr/>
        </p:nvSpPr>
        <p:spPr>
          <a:xfrm>
            <a:off x="563934" y="653474"/>
            <a:ext cx="47852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DXel</a:t>
            </a:r>
            <a:r>
              <a:rPr lang="ko-KR" altLang="en-US" sz="4000" b="1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주간 업무 보고서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ADDA9A-2589-DEC7-F050-BFC24F63A290}"/>
              </a:ext>
            </a:extLst>
          </p:cNvPr>
          <p:cNvGraphicFramePr>
            <a:graphicFrameLocks noGrp="1"/>
          </p:cNvGraphicFramePr>
          <p:nvPr/>
        </p:nvGraphicFramePr>
        <p:xfrm>
          <a:off x="5389420" y="4902331"/>
          <a:ext cx="6271492" cy="12149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6544">
                  <a:extLst>
                    <a:ext uri="{9D8B030D-6E8A-4147-A177-3AD203B41FA5}">
                      <a16:colId xmlns:a16="http://schemas.microsoft.com/office/drawing/2014/main" val="920059606"/>
                    </a:ext>
                  </a:extLst>
                </a:gridCol>
                <a:gridCol w="4354948">
                  <a:extLst>
                    <a:ext uri="{9D8B030D-6E8A-4147-A177-3AD203B41FA5}">
                      <a16:colId xmlns:a16="http://schemas.microsoft.com/office/drawing/2014/main" val="3314683994"/>
                    </a:ext>
                  </a:extLst>
                </a:gridCol>
              </a:tblGrid>
              <a:tr h="6074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보고일자</a:t>
                      </a:r>
                      <a:endParaRPr lang="ko-KR" altLang="en-US" b="0" dirty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altLang="ko-KR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2026.05.11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05067"/>
                  </a:ext>
                </a:extLst>
              </a:tr>
              <a:tr h="6074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센터장</a:t>
                      </a:r>
                      <a:endParaRPr lang="en-US" altLang="ko-KR" b="0" dirty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이영원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2446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46E9705-4C0A-DDF3-6154-A56907063C22}"/>
              </a:ext>
            </a:extLst>
          </p:cNvPr>
          <p:cNvSpPr txBox="1"/>
          <p:nvPr/>
        </p:nvSpPr>
        <p:spPr>
          <a:xfrm>
            <a:off x="3048000" y="310578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32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Development Center</a:t>
            </a:r>
            <a:endParaRPr lang="ko-KR" altLang="en-US" sz="32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9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61CFA3B-AA12-46B6-C057-D45E8CE50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6614760" cy="561944"/>
          </a:xfrm>
        </p:spPr>
        <p:txBody>
          <a:bodyPr anchor="ctr"/>
          <a:lstStyle/>
          <a:p>
            <a:r>
              <a:rPr lang="en-US" altLang="ko-KR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PROJECT : TYM TPS </a:t>
            </a:r>
            <a:r>
              <a:rPr lang="ko-KR" altLang="en-US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시스템 운영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2FADFE4-6140-064F-B470-E71EBD8673D3}"/>
              </a:ext>
            </a:extLst>
          </p:cNvPr>
          <p:cNvGraphicFramePr>
            <a:graphicFrameLocks noGrp="1"/>
          </p:cNvGraphicFramePr>
          <p:nvPr/>
        </p:nvGraphicFramePr>
        <p:xfrm>
          <a:off x="631572" y="2604657"/>
          <a:ext cx="3594064" cy="351905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98516">
                  <a:extLst>
                    <a:ext uri="{9D8B030D-6E8A-4147-A177-3AD203B41FA5}">
                      <a16:colId xmlns:a16="http://schemas.microsoft.com/office/drawing/2014/main" val="1540111326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176562588"/>
                    </a:ext>
                  </a:extLst>
                </a:gridCol>
              </a:tblGrid>
              <a:tr h="363250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투입자</a:t>
                      </a:r>
                      <a:endParaRPr lang="ko-KR" altLang="en-US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종료일자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PM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84" rtl="0" eaLnBrk="1" latinLnBrk="1" hangingPunct="1"/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(*)</a:t>
                      </a: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이영원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(0.5)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2027.01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TPS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1219184" rtl="0" eaLnBrk="1" latinLnBrk="1" hangingPunct="1"/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이상기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2027.01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724310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MES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1219184" rtl="0" eaLnBrk="1" latinLnBrk="1" hangingPunct="1"/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함성호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2027.01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68690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MRP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1219184" rtl="0" eaLnBrk="1" latinLnBrk="1" hangingPunct="1"/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(*)</a:t>
                      </a:r>
                      <a:r>
                        <a:rPr lang="ko-KR" altLang="en-US" sz="1000" kern="12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문병준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(0.5)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2027.01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967356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SRM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1219184" rtl="0" eaLnBrk="1" latinLnBrk="1" hangingPunct="1"/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(*)</a:t>
                      </a: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장지영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2027.01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569684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APS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1219184" rtl="0" eaLnBrk="1" latinLnBrk="1" hangingPunct="1"/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(*)</a:t>
                      </a:r>
                      <a:r>
                        <a:rPr lang="ko-KR" altLang="en-US" sz="1000" kern="12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노충호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(0.1)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2027.01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959594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계절기종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2026.03.23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2026.06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897790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계절기종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문병준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(0.5)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2026.07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340284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엔진창고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문병준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(0.5)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2026.08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2026.09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089026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8746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38D3C07-036E-67E9-B70A-FB79B46C4BAE}"/>
              </a:ext>
            </a:extLst>
          </p:cNvPr>
          <p:cNvGraphicFramePr>
            <a:graphicFrameLocks noGrp="1"/>
          </p:cNvGraphicFramePr>
          <p:nvPr/>
        </p:nvGraphicFramePr>
        <p:xfrm>
          <a:off x="631571" y="891697"/>
          <a:ext cx="3594063" cy="129240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837946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1756117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</a:tblGrid>
              <a:tr h="4022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105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fontAlgn="ctr"/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금월 투입 </a:t>
                      </a:r>
                      <a:r>
                        <a:rPr lang="en-US" altLang="ko-K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5.6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누적 투입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17.9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익월 투입 예상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5.6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D3490C7-9578-C8E0-2EB4-5C3ED402757E}"/>
              </a:ext>
            </a:extLst>
          </p:cNvPr>
          <p:cNvGraphicFramePr>
            <a:graphicFrameLocks noGrp="1"/>
          </p:cNvGraphicFramePr>
          <p:nvPr/>
        </p:nvGraphicFramePr>
        <p:xfrm>
          <a:off x="4433455" y="891698"/>
          <a:ext cx="7126973" cy="129240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142252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2462268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  <a:gridCol w="1153125">
                  <a:extLst>
                    <a:ext uri="{9D8B030D-6E8A-4147-A177-3AD203B41FA5}">
                      <a16:colId xmlns:a16="http://schemas.microsoft.com/office/drawing/2014/main" val="3073445094"/>
                    </a:ext>
                  </a:extLst>
                </a:gridCol>
                <a:gridCol w="2369328">
                  <a:extLst>
                    <a:ext uri="{9D8B030D-6E8A-4147-A177-3AD203B41FA5}">
                      <a16:colId xmlns:a16="http://schemas.microsoft.com/office/drawing/2014/main" val="973327844"/>
                    </a:ext>
                  </a:extLst>
                </a:gridCol>
              </a:tblGrid>
              <a:tr h="41062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5/4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TYM(</a:t>
                      </a:r>
                      <a:r>
                        <a:rPr lang="ko-KR" altLang="en-US" sz="9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익산</a:t>
                      </a:r>
                      <a:r>
                        <a:rPr lang="en-US" altLang="ko-KR" sz="9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옥천</a:t>
                      </a:r>
                      <a:r>
                        <a:rPr lang="en-US" altLang="ko-KR" sz="9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lang="ko-KR" altLang="en-US" sz="9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휴무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5/20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운영 </a:t>
                      </a:r>
                      <a:r>
                        <a:rPr lang="ko-KR" altLang="en-US" sz="9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월보고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서면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7F87A4-89C0-4162-1117-5E5A99FCE131}"/>
              </a:ext>
            </a:extLst>
          </p:cNvPr>
          <p:cNvGraphicFramePr>
            <a:graphicFrameLocks noGrp="1"/>
          </p:cNvGraphicFramePr>
          <p:nvPr/>
        </p:nvGraphicFramePr>
        <p:xfrm>
          <a:off x="4433455" y="2604654"/>
          <a:ext cx="7126972" cy="3515257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563486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3563486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</a:tblGrid>
              <a:tr h="374073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 현황 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(4/27 ~ 5/8)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향후일정 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 ~ 5/15)</a:t>
                      </a:r>
                      <a:endParaRPr lang="ko-KR" altLang="en-US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1411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ITGC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; TPS(MRP, MES, MM, PP, QM) –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감사팀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운영 요청 사항 관리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;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https://itsm.tym.world/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Server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이관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LS-1000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서비스 재시작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5/1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(SRM)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발주 미납현황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 Lock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발생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( 5/7 10:44 ) –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재시작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익산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앵커 점검 및 출하영역 위치 정합성 관련 로그 확보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5/8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’26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 중장기 추진 과제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1) (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옥천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엔진 자동 창고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MES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연계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검수요청 및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Data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이관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4/30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Live Open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5/6 ~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2) (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옥천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계절 기종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MES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적용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콤바인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Sub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작업 사전 오픈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4/28 ~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콤바인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본기라인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Go-Live , 5/6 ~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TPS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취약점 확인 및 조치 방안 협의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), 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운영 적용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(5/20)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로그인시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Token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인증 방식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– QA Test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API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접근 권한 통제 기증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– QA Test</a:t>
                      </a:r>
                    </a:p>
                  </a:txBody>
                  <a:tcPr marT="10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 Part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별 요청 사항 접수 및 내용 파악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&amp;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전환 현황 모니터링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바인딩 전환 시점 검토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(5/20)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(SRM)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MRP DB Link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에서 배치로 변경 검토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도장라인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HMI Tablet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유선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N/W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연결 및 테스트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2. 26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  중장기 추진 과제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1) (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옥천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엔진 자동 창고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MES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연계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안정화 및 검수 확인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– FD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문서 중점 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2) (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옥천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계절 기종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MES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적용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콤바인 라인 모니터링 및 안정화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엔진 조립 공정 운영 시나리오 수립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엔진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이앙기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To-Be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협의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5/13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TPS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취약점 확인 및 조치 방안 협의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평문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(HTTP)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통신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다른 사용자 암호화 패스워드 열람 가능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API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 대한 접근 권한 통제 없음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관리자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ID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사번을 도용하여 관리자 권한 탈취 가능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T="108000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C30E279-5C44-00AD-5EB6-23338B2621C4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(*)Online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57044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BD49-D496-752A-E7AE-D33CC1D8D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A10BEEC-362B-34E3-D2BF-7C5FE119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이슈 </a:t>
            </a:r>
            <a:r>
              <a:rPr lang="en-US" altLang="ko-KR" b="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&amp; </a:t>
            </a:r>
            <a:r>
              <a:rPr lang="ko-KR" altLang="en-US" b="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대응 현황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FEE139-E612-9722-766E-6DD3B61ED124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(*)Online</a:t>
            </a:r>
            <a:endParaRPr lang="ko-KR" altLang="en-US" sz="10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3407703-FDEC-9F2D-52AE-B2F865E5B2F9}"/>
              </a:ext>
            </a:extLst>
          </p:cNvPr>
          <p:cNvGraphicFramePr>
            <a:graphicFrameLocks noGrp="1"/>
          </p:cNvGraphicFramePr>
          <p:nvPr/>
        </p:nvGraphicFramePr>
        <p:xfrm>
          <a:off x="769914" y="990600"/>
          <a:ext cx="10452268" cy="548578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75104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5477164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</a:tblGrid>
              <a:tr h="339436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이슈현황</a:t>
                      </a:r>
                      <a:endParaRPr lang="en-US" altLang="ko-KR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대응방안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4925291">
                <a:tc>
                  <a:txBody>
                    <a:bodyPr/>
                    <a:lstStyle/>
                    <a:p>
                      <a:pPr marL="0" indent="90488" algn="l" defTabSz="1219184" rtl="0" eaLnBrk="1" fontAlgn="ctr" latinLnBrk="1" hangingPunct="1">
                        <a:lnSpc>
                          <a:spcPct val="130000"/>
                        </a:lnSpc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 2026/2 ~ 2027/1 :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운영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Team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중장기 추진 과제 병행 방안 검토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1) 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옥천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엔진 자동 창고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MES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연계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2026/2/1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~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 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2026/4/30(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 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개월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2) 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옥천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계절 기종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MES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적용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2026/2/1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~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 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2026/7/31(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 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개월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3) 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익산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컨베이어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HMI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기능 추가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2026/1/19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~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 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2026/2/18(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 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개월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)-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</a:t>
                      </a:r>
                      <a:endParaRPr kumimoji="1" lang="en-US" altLang="ko-KR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3.1) Touch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Pannel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교체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Part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 일정 확인 및 협의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중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명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), 3/23 ~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 </a:t>
                      </a:r>
                      <a:r>
                        <a:rPr kumimoji="1" lang="en-US" altLang="ko-K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적용의 건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(4/1 ~ )</a:t>
                      </a:r>
                    </a:p>
                    <a:p>
                      <a:pPr marL="171450" marR="0" lvl="0" indent="-17145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20~30%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정도 오류 발생</a:t>
                      </a:r>
                      <a:endParaRPr lang="en-US" altLang="ko-KR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T="10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운영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옥천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계절 기종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MES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적용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옥천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엔진 자동 창고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MES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연계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 TYM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내부 </a:t>
                      </a:r>
                      <a:r>
                        <a:rPr lang="en-US" altLang="ko-KR" sz="9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Review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후 요청 접수 및 진행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 algn="l" defTabSz="1219184" rtl="0" eaLnBrk="1" fontAlgn="ctr" latinLnBrk="1" hangingPunct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사전 준비 사항 진행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 algn="l" defTabSz="1219184" rtl="0" eaLnBrk="1" fontAlgn="ctr" latinLnBrk="1" hangingPunct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LS-1000, </a:t>
                      </a:r>
                      <a:r>
                        <a:rPr lang="en-US" altLang="ko-KR" sz="9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Server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분리 검토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3/26</a:t>
                      </a:r>
                    </a:p>
                    <a:p>
                      <a:pPr marL="171450" indent="-171450" algn="l" defTabSz="1219184" rtl="0" eaLnBrk="1" fontAlgn="ctr" latinLnBrk="1" hangingPunct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TYM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제공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PC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 및 운영 안정성 검토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3/30 ~ 4/3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T="108000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2C11B95-D59D-556E-9D9A-4EADDEE8C512}"/>
              </a:ext>
            </a:extLst>
          </p:cNvPr>
          <p:cNvGraphicFramePr>
            <a:graphicFrameLocks noGrp="1"/>
          </p:cNvGraphicFramePr>
          <p:nvPr/>
        </p:nvGraphicFramePr>
        <p:xfrm>
          <a:off x="6382328" y="1495391"/>
          <a:ext cx="3611419" cy="160020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61047">
                  <a:extLst>
                    <a:ext uri="{9D8B030D-6E8A-4147-A177-3AD203B41FA5}">
                      <a16:colId xmlns:a16="http://schemas.microsoft.com/office/drawing/2014/main" val="1540111326"/>
                    </a:ext>
                  </a:extLst>
                </a:gridCol>
                <a:gridCol w="826632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1223740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</a:tblGrid>
              <a:tr h="171279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9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900" b="1" i="0" u="none" strike="noStrike" kern="12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투입자</a:t>
                      </a:r>
                      <a:endParaRPr lang="ko-KR" altLang="en-US" sz="9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9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161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PM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(*)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이영원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  <a:tr h="161204"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TPS QM, PP,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MM, PM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이상기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PM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환경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기계설비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724310"/>
                  </a:ext>
                </a:extLst>
              </a:tr>
              <a:tr h="161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TPS MES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함성호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익산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옥천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68690"/>
                  </a:ext>
                </a:extLst>
              </a:tr>
              <a:tr h="161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TPS MRP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(*)</a:t>
                      </a:r>
                      <a:r>
                        <a:rPr lang="ko-KR" altLang="en-US" sz="9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문병준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(0.5)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967356"/>
                  </a:ext>
                </a:extLst>
              </a:tr>
              <a:tr h="1511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0" i="0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TPS SRM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(*)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장지영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569684"/>
                  </a:ext>
                </a:extLst>
              </a:tr>
              <a:tr h="1511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TPS APS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(*)</a:t>
                      </a:r>
                      <a:r>
                        <a:rPr lang="ko-KR" altLang="en-US" sz="9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노충호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(0.1)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기술 지원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959594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63A54B-0245-E95D-FA7F-1F731E992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048" y="4711861"/>
            <a:ext cx="4987636" cy="758677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30CA00B-B72B-C94A-BB4C-98499A762F73}"/>
              </a:ext>
            </a:extLst>
          </p:cNvPr>
          <p:cNvGraphicFramePr>
            <a:graphicFrameLocks noGrp="1"/>
          </p:cNvGraphicFramePr>
          <p:nvPr/>
        </p:nvGraphicFramePr>
        <p:xfrm>
          <a:off x="5996048" y="3429000"/>
          <a:ext cx="4987636" cy="10408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2567">
                  <a:extLst>
                    <a:ext uri="{9D8B030D-6E8A-4147-A177-3AD203B41FA5}">
                      <a16:colId xmlns:a16="http://schemas.microsoft.com/office/drawing/2014/main" val="133132276"/>
                    </a:ext>
                  </a:extLst>
                </a:gridCol>
                <a:gridCol w="470572">
                  <a:extLst>
                    <a:ext uri="{9D8B030D-6E8A-4147-A177-3AD203B41FA5}">
                      <a16:colId xmlns:a16="http://schemas.microsoft.com/office/drawing/2014/main" val="1604256009"/>
                    </a:ext>
                  </a:extLst>
                </a:gridCol>
                <a:gridCol w="470572">
                  <a:extLst>
                    <a:ext uri="{9D8B030D-6E8A-4147-A177-3AD203B41FA5}">
                      <a16:colId xmlns:a16="http://schemas.microsoft.com/office/drawing/2014/main" val="4145925105"/>
                    </a:ext>
                  </a:extLst>
                </a:gridCol>
                <a:gridCol w="470572">
                  <a:extLst>
                    <a:ext uri="{9D8B030D-6E8A-4147-A177-3AD203B41FA5}">
                      <a16:colId xmlns:a16="http://schemas.microsoft.com/office/drawing/2014/main" val="3683591400"/>
                    </a:ext>
                  </a:extLst>
                </a:gridCol>
                <a:gridCol w="470572">
                  <a:extLst>
                    <a:ext uri="{9D8B030D-6E8A-4147-A177-3AD203B41FA5}">
                      <a16:colId xmlns:a16="http://schemas.microsoft.com/office/drawing/2014/main" val="813499586"/>
                    </a:ext>
                  </a:extLst>
                </a:gridCol>
                <a:gridCol w="470572">
                  <a:extLst>
                    <a:ext uri="{9D8B030D-6E8A-4147-A177-3AD203B41FA5}">
                      <a16:colId xmlns:a16="http://schemas.microsoft.com/office/drawing/2014/main" val="4010686169"/>
                    </a:ext>
                  </a:extLst>
                </a:gridCol>
                <a:gridCol w="470572">
                  <a:extLst>
                    <a:ext uri="{9D8B030D-6E8A-4147-A177-3AD203B41FA5}">
                      <a16:colId xmlns:a16="http://schemas.microsoft.com/office/drawing/2014/main" val="3678472904"/>
                    </a:ext>
                  </a:extLst>
                </a:gridCol>
                <a:gridCol w="1431637">
                  <a:extLst>
                    <a:ext uri="{9D8B030D-6E8A-4147-A177-3AD203B41FA5}">
                      <a16:colId xmlns:a16="http://schemas.microsoft.com/office/drawing/2014/main" val="1042779031"/>
                    </a:ext>
                  </a:extLst>
                </a:gridCol>
              </a:tblGrid>
              <a:tr h="173482"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구분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M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M+1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M+2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M+3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M+4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M+5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비고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57295"/>
                  </a:ext>
                </a:extLst>
              </a:tr>
              <a:tr h="173482"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업무분석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라우팅</a:t>
                      </a:r>
                      <a:r>
                        <a:rPr lang="en-US" sz="900" kern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기준정보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696748"/>
                  </a:ext>
                </a:extLst>
              </a:tr>
              <a:tr h="173482"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설계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공정운영 시나리오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641686"/>
                  </a:ext>
                </a:extLst>
              </a:tr>
              <a:tr h="173482"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개발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668788"/>
                  </a:ext>
                </a:extLst>
              </a:tr>
              <a:tr h="173482"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테스트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066447"/>
                  </a:ext>
                </a:extLst>
              </a:tr>
              <a:tr h="173482"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안정화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　</a:t>
                      </a:r>
                      <a:endParaRPr lang="ko-KR" sz="700" kern="5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382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9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90DB6-03EE-0A89-D33A-7BE22F8D3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5C4A70F-936C-AEF8-E6F4-4449FE5F4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ko-KR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PROJECT </a:t>
            </a:r>
            <a:r>
              <a:rPr lang="en-US" altLang="ko-KR" b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en-US" altLang="ko-KR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TYM </a:t>
            </a:r>
            <a:r>
              <a:rPr lang="ko-KR" altLang="en-US" b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국책과제 </a:t>
            </a:r>
            <a:r>
              <a:rPr lang="en-US" altLang="ko-KR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en-US" altLang="ko-KR" b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b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자율제조</a:t>
            </a:r>
            <a:r>
              <a:rPr lang="en-US" altLang="ko-KR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2A116-1656-96E6-B45B-68B31513F726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(*)Online</a:t>
            </a:r>
            <a:endParaRPr lang="ko-KR" altLang="en-US" sz="100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7B5F1B2-802B-AAB9-7493-930C5D1524B9}"/>
              </a:ext>
            </a:extLst>
          </p:cNvPr>
          <p:cNvGraphicFramePr>
            <a:graphicFrameLocks noGrp="1"/>
          </p:cNvGraphicFramePr>
          <p:nvPr/>
        </p:nvGraphicFramePr>
        <p:xfrm>
          <a:off x="631571" y="891697"/>
          <a:ext cx="3594063" cy="129240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837946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1756117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</a:tblGrid>
              <a:tr h="4022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105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fontAlgn="ctr"/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금월 투입 </a:t>
                      </a:r>
                      <a:r>
                        <a:rPr lang="en-US" altLang="ko-K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누적 투입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익월 투입 예상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B483C04-CB47-5393-B78A-F867CAE567EB}"/>
              </a:ext>
            </a:extLst>
          </p:cNvPr>
          <p:cNvGraphicFramePr>
            <a:graphicFrameLocks noGrp="1"/>
          </p:cNvGraphicFramePr>
          <p:nvPr/>
        </p:nvGraphicFramePr>
        <p:xfrm>
          <a:off x="4433455" y="891698"/>
          <a:ext cx="7126973" cy="129240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142252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2462268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  <a:gridCol w="1153125">
                  <a:extLst>
                    <a:ext uri="{9D8B030D-6E8A-4147-A177-3AD203B41FA5}">
                      <a16:colId xmlns:a16="http://schemas.microsoft.com/office/drawing/2014/main" val="3073445094"/>
                    </a:ext>
                  </a:extLst>
                </a:gridCol>
                <a:gridCol w="2369328">
                  <a:extLst>
                    <a:ext uri="{9D8B030D-6E8A-4147-A177-3AD203B41FA5}">
                      <a16:colId xmlns:a16="http://schemas.microsoft.com/office/drawing/2014/main" val="973327844"/>
                    </a:ext>
                  </a:extLst>
                </a:gridCol>
              </a:tblGrid>
              <a:tr h="41062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??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완료 보고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??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-1</a:t>
                      </a:r>
                      <a:r>
                        <a:rPr lang="ko-KR" altLang="en-US" sz="9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년차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워크샾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097A0F5-5711-3AE5-C391-481A454C2196}"/>
              </a:ext>
            </a:extLst>
          </p:cNvPr>
          <p:cNvGraphicFramePr>
            <a:graphicFrameLocks noGrp="1"/>
          </p:cNvGraphicFramePr>
          <p:nvPr/>
        </p:nvGraphicFramePr>
        <p:xfrm>
          <a:off x="4433455" y="2604654"/>
          <a:ext cx="7126972" cy="3515257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563486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3563486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</a:tblGrid>
              <a:tr h="374073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 현황 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(4/27 ~ 5/8)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향후일정 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 ~ 5/15)</a:t>
                      </a:r>
                      <a:endParaRPr lang="ko-KR" altLang="en-US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141184">
                <a:tc>
                  <a:txBody>
                    <a:bodyPr/>
                    <a:lstStyle/>
                    <a:p>
                      <a:pPr marL="228600" indent="-228600" algn="l" defTabSz="1219184" rtl="0" eaLnBrk="1" fontAlgn="ctr" latinLnBrk="1" hangingPunct="1">
                        <a:lnSpc>
                          <a:spcPct val="130000"/>
                        </a:lnSpc>
                        <a:buAutoNum type="arabicPeriod"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연구 개발 계획서 확인</a:t>
                      </a: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- 1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년차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 04. 01 - 2027. 01. 31( 10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개월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indent="-17145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- 2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년차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2027. 02. 01 - 2027. 12. 31( 11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개월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indent="-17145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디지털협업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공장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</a:t>
                      </a:r>
                    </a:p>
                    <a:p>
                      <a:pPr marL="171450" indent="-171450" algn="l" defTabSz="1219184" rtl="0" eaLnBrk="1" fontAlgn="ctr" latinLnBrk="1" hangingPunct="1">
                        <a:lnSpc>
                          <a:spcPct val="13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최종평가 관련 보완 요청 사항 회신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5/8</a:t>
                      </a:r>
                    </a:p>
                  </a:txBody>
                  <a:tcPr marT="10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년차</a:t>
                      </a: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통합 플랫폼 기능 정의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 ~ 4/E)</a:t>
                      </a: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.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 환경 구축</a:t>
                      </a: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조립 결과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I/F Test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모델링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to MAT</a:t>
                      </a:r>
                    </a:p>
                    <a:p>
                      <a:pPr marL="171450" marR="0" lvl="0" indent="-17145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# AI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자율제조 플랫폼 기능 정의 </a:t>
                      </a: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년차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워크샾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검토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’26 5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 중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with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경영지원센터</a:t>
                      </a: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4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5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월로 변경</a:t>
                      </a: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#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현장 실태 조사  대응</a:t>
                      </a: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 점검 결과 확인 및 보완</a:t>
                      </a: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 보고 일정 확인 및 대응</a:t>
                      </a: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</a:t>
                      </a:r>
                      <a:endParaRPr lang="en-US" altLang="ko-KR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T="108000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D88EEB5-DA8C-66A3-2E2B-3E963457374C}"/>
              </a:ext>
            </a:extLst>
          </p:cNvPr>
          <p:cNvGraphicFramePr>
            <a:graphicFrameLocks noGrp="1"/>
          </p:cNvGraphicFramePr>
          <p:nvPr/>
        </p:nvGraphicFramePr>
        <p:xfrm>
          <a:off x="631572" y="2604656"/>
          <a:ext cx="3594064" cy="3519053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88519">
                  <a:extLst>
                    <a:ext uri="{9D8B030D-6E8A-4147-A177-3AD203B41FA5}">
                      <a16:colId xmlns:a16="http://schemas.microsoft.com/office/drawing/2014/main" val="634884187"/>
                    </a:ext>
                  </a:extLst>
                </a:gridCol>
                <a:gridCol w="1008513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176562588"/>
                    </a:ext>
                  </a:extLst>
                </a:gridCol>
              </a:tblGrid>
              <a:tr h="369073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투입자</a:t>
                      </a:r>
                      <a:endParaRPr lang="ko-KR" altLang="en-US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종료일자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PM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김남웅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2024.09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2027.12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PMO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김무현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2024.09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2027.12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724310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10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김동심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2024.11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2027.12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68690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이영원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2024.09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2027.12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967356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김상찬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2026.01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2027.12</a:t>
                      </a:r>
                      <a:endParaRPr lang="ko-KR" altLang="en-US" sz="10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569684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959594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897790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340284"/>
                  </a:ext>
                </a:extLst>
              </a:tr>
              <a:tr h="31223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089026"/>
                  </a:ext>
                </a:extLst>
              </a:tr>
              <a:tr h="339829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87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953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208F9-F508-8195-E522-86B46AD1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DA0FE3F-EE05-C43C-15CF-C6BCFCCC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이슈 </a:t>
            </a:r>
            <a:r>
              <a:rPr lang="en-US" altLang="ko-KR" b="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&amp; </a:t>
            </a:r>
            <a:r>
              <a:rPr lang="ko-KR" altLang="en-US" b="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대응 현황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056C0E-DDA4-BC3E-F27F-796BB8C22BC9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(*)Online</a:t>
            </a:r>
            <a:endParaRPr lang="ko-KR" altLang="en-US" sz="10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8CEDE24-F785-32B0-54E8-9B4DAC5FAE0D}"/>
              </a:ext>
            </a:extLst>
          </p:cNvPr>
          <p:cNvGraphicFramePr>
            <a:graphicFrameLocks noGrp="1"/>
          </p:cNvGraphicFramePr>
          <p:nvPr/>
        </p:nvGraphicFramePr>
        <p:xfrm>
          <a:off x="769914" y="990600"/>
          <a:ext cx="10452268" cy="5264727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75104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5477164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</a:tblGrid>
              <a:tr h="339436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이슈현황</a:t>
                      </a:r>
                      <a:endParaRPr lang="en-US" altLang="ko-KR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대응방안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4925291">
                <a:tc>
                  <a:txBody>
                    <a:bodyPr/>
                    <a:lstStyle/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1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KPI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달성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 ‘26 3/E)</a:t>
                      </a:r>
                    </a:p>
                  </a:txBody>
                  <a:tcPr marT="10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전체 일정 및 당사 업무 범위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&amp;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일정 확인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360363" marR="0" lvl="0" indent="-180975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통합 플랫폼 구축</a:t>
                      </a: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360363" marR="0" lvl="0" indent="-180975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Digital Twin 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endParaRPr lang="en-KR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KR" altLang="ko-KR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T="108000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</a:tbl>
          </a:graphicData>
        </a:graphic>
      </p:graphicFrame>
      <p:pic>
        <p:nvPicPr>
          <p:cNvPr id="4" name="그림 3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CFE12A-7BEB-A9DD-B5E2-90BAA6726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56" y="1746521"/>
            <a:ext cx="4043653" cy="3364958"/>
          </a:xfrm>
          <a:prstGeom prst="rect">
            <a:avLst/>
          </a:prstGeom>
        </p:spPr>
      </p:pic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6DABAF-7F61-DD86-1245-B9FCAE89D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077" y="2059703"/>
            <a:ext cx="5407633" cy="268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27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9702C-E3F1-11F9-51A9-9AFCAA48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88E3730-A9C2-8852-1A65-17EC573A1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이슈 </a:t>
            </a:r>
            <a:r>
              <a:rPr lang="en-US" altLang="ko-KR" b="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&amp; </a:t>
            </a:r>
            <a:r>
              <a:rPr lang="ko-KR" altLang="en-US" b="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대응 현황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191650-A8BF-9CBF-4FCF-C1D8FAD7F612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(*)Online</a:t>
            </a:r>
            <a:endParaRPr lang="ko-KR" altLang="en-US" sz="10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502A69C-904F-F9FC-AF01-FE0DA00D31F7}"/>
              </a:ext>
            </a:extLst>
          </p:cNvPr>
          <p:cNvGraphicFramePr>
            <a:graphicFrameLocks noGrp="1"/>
          </p:cNvGraphicFramePr>
          <p:nvPr/>
        </p:nvGraphicFramePr>
        <p:xfrm>
          <a:off x="769914" y="990600"/>
          <a:ext cx="10452268" cy="5264727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75104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5477164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</a:tblGrid>
              <a:tr h="339436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이슈현황</a:t>
                      </a:r>
                      <a:endParaRPr lang="en-US" altLang="ko-KR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대응방안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4925291">
                <a:tc>
                  <a:txBody>
                    <a:bodyPr/>
                    <a:lstStyle/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2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KPI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 ‘26 4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~ ‘27 1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-10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개월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-)</a:t>
                      </a:r>
                    </a:p>
                  </a:txBody>
                  <a:tcPr marT="10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KR" altLang="ko-KR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T="108000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7A933A2-BACA-5B7E-84F0-EE37EF057986}"/>
              </a:ext>
            </a:extLst>
          </p:cNvPr>
          <p:cNvGraphicFramePr>
            <a:graphicFrameLocks noGrp="1"/>
          </p:cNvGraphicFramePr>
          <p:nvPr/>
        </p:nvGraphicFramePr>
        <p:xfrm>
          <a:off x="893330" y="1734063"/>
          <a:ext cx="3429288" cy="3934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6925">
                  <a:extLst>
                    <a:ext uri="{9D8B030D-6E8A-4147-A177-3AD203B41FA5}">
                      <a16:colId xmlns:a16="http://schemas.microsoft.com/office/drawing/2014/main" val="3398873959"/>
                    </a:ext>
                  </a:extLst>
                </a:gridCol>
                <a:gridCol w="2632363">
                  <a:extLst>
                    <a:ext uri="{9D8B030D-6E8A-4147-A177-3AD203B41FA5}">
                      <a16:colId xmlns:a16="http://schemas.microsoft.com/office/drawing/2014/main" val="3731260454"/>
                    </a:ext>
                  </a:extLst>
                </a:gridCol>
              </a:tblGrid>
              <a:tr h="10894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평가 항목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408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607727"/>
                  </a:ext>
                </a:extLst>
              </a:tr>
              <a:tr h="211479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무인검사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408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3. </a:t>
                      </a:r>
                      <a:r>
                        <a:rPr lang="ko-KR" altLang="en-US" sz="800" u="none" strike="noStrike">
                          <a:effectLst/>
                        </a:rPr>
                        <a:t>무인자율검사 학습데이터 셋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614252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4. </a:t>
                      </a:r>
                      <a:r>
                        <a:rPr lang="ko-KR" altLang="en-US" sz="800" u="none" strike="noStrike">
                          <a:effectLst/>
                        </a:rPr>
                        <a:t>검사 가상환경구현 객체 수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967713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dirty="0">
                          <a:effectLst/>
                        </a:rPr>
                        <a:t>5. </a:t>
                      </a:r>
                      <a:r>
                        <a:rPr lang="ko-KR" altLang="en-US" sz="800" u="none" strike="noStrike" dirty="0">
                          <a:effectLst/>
                        </a:rPr>
                        <a:t>검사공정 자율 동작 정확도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자율제어 예측 정확도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092876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6. </a:t>
                      </a:r>
                      <a:r>
                        <a:rPr lang="ko-KR" altLang="en-US" sz="800" u="none" strike="noStrike" dirty="0">
                          <a:effectLst/>
                        </a:rPr>
                        <a:t>검사공정 데이터 무결성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00306"/>
                  </a:ext>
                </a:extLst>
              </a:tr>
              <a:tr h="211479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무인조립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408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10. </a:t>
                      </a:r>
                      <a:r>
                        <a:rPr lang="ko-KR" altLang="en-US" sz="800" u="none" strike="noStrike">
                          <a:effectLst/>
                        </a:rPr>
                        <a:t>무인자율조립학습데이터 셋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975439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11. </a:t>
                      </a:r>
                      <a:r>
                        <a:rPr lang="ko-KR" altLang="en-US" sz="800" u="none" strike="noStrike">
                          <a:effectLst/>
                        </a:rPr>
                        <a:t>조립 가상환경 구현 객체 수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83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dirty="0">
                          <a:effectLst/>
                        </a:rPr>
                        <a:t>12. </a:t>
                      </a:r>
                      <a:r>
                        <a:rPr lang="ko-KR" altLang="en-US" sz="800" u="none" strike="noStrike" dirty="0">
                          <a:effectLst/>
                        </a:rPr>
                        <a:t>조립공정 자율 동작 정확도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자율제어 예측 정확도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051636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13. </a:t>
                      </a:r>
                      <a:r>
                        <a:rPr lang="ko-KR" altLang="en-US" sz="800" u="none" strike="noStrike" dirty="0">
                          <a:effectLst/>
                        </a:rPr>
                        <a:t>조립공정 데이터 무결성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296695"/>
                  </a:ext>
                </a:extLst>
              </a:tr>
              <a:tr h="211479"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이송공정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408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14. </a:t>
                      </a:r>
                      <a:r>
                        <a:rPr lang="ko-KR" altLang="en-US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조립용 부품 자동 입출고 정확도</a:t>
                      </a:r>
                      <a:endParaRPr lang="ko-KR" altLang="en-US" sz="800" b="0" i="0" u="none" strike="noStrike" dirty="0">
                        <a:solidFill>
                          <a:schemeClr val="bg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653780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15. </a:t>
                      </a:r>
                      <a:r>
                        <a:rPr lang="ko-KR" altLang="en-US" sz="800" u="none" strike="noStrike" dirty="0" err="1">
                          <a:solidFill>
                            <a:schemeClr val="bg2"/>
                          </a:solidFill>
                          <a:effectLst/>
                        </a:rPr>
                        <a:t>완성차</a:t>
                      </a:r>
                      <a:r>
                        <a:rPr lang="ko-KR" altLang="en-US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 자동 입출고정확도</a:t>
                      </a:r>
                      <a:endParaRPr lang="ko-KR" altLang="en-US" sz="800" b="0" i="0" u="none" strike="noStrike" dirty="0">
                        <a:solidFill>
                          <a:schemeClr val="bg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083995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16. AMR </a:t>
                      </a:r>
                      <a:r>
                        <a:rPr lang="ko-KR" altLang="en-US" sz="800" u="none" strike="noStrike" dirty="0">
                          <a:effectLst/>
                        </a:rPr>
                        <a:t>자율주행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경로추종</a:t>
                      </a:r>
                      <a:r>
                        <a:rPr lang="ko-KR" altLang="en-US" sz="800" u="none" strike="noStrike" dirty="0">
                          <a:effectLst/>
                        </a:rPr>
                        <a:t> 오차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376119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17. </a:t>
                      </a:r>
                      <a:r>
                        <a:rPr lang="ko-KR" altLang="en-US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무인자율 </a:t>
                      </a:r>
                      <a:r>
                        <a:rPr lang="ko-KR" altLang="en-US" sz="800" u="none" strike="noStrike" dirty="0" err="1">
                          <a:solidFill>
                            <a:schemeClr val="bg2"/>
                          </a:solidFill>
                          <a:effectLst/>
                        </a:rPr>
                        <a:t>물류이송</a:t>
                      </a:r>
                      <a:r>
                        <a:rPr lang="ko-KR" altLang="en-US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 학습데이터 셋</a:t>
                      </a:r>
                      <a:endParaRPr lang="ko-KR" altLang="en-US" sz="800" b="0" i="0" u="none" strike="noStrike" dirty="0">
                        <a:solidFill>
                          <a:schemeClr val="bg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963127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18. </a:t>
                      </a:r>
                      <a:r>
                        <a:rPr lang="ko-KR" altLang="en-US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이송 가상환경 구현객체 수</a:t>
                      </a:r>
                      <a:endParaRPr lang="ko-KR" altLang="en-US" sz="800" b="0" i="0" u="none" strike="noStrike" dirty="0">
                        <a:solidFill>
                          <a:schemeClr val="bg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96329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19. </a:t>
                      </a:r>
                      <a:r>
                        <a:rPr lang="ko-KR" altLang="en-US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이송공정 자율 동작 정확도</a:t>
                      </a: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자율제어 예측 정확도</a:t>
                      </a: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chemeClr val="bg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92115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20. </a:t>
                      </a:r>
                      <a:r>
                        <a:rPr lang="ko-KR" altLang="en-US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이송공정 데이터 무결성</a:t>
                      </a:r>
                      <a:endParaRPr lang="ko-KR" altLang="en-US" sz="800" b="0" i="0" u="none" strike="noStrike" dirty="0">
                        <a:solidFill>
                          <a:schemeClr val="bg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436970"/>
                  </a:ext>
                </a:extLst>
              </a:tr>
              <a:tr h="211479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통합플랫폼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6408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21. </a:t>
                      </a:r>
                      <a:r>
                        <a:rPr lang="ko-KR" altLang="en-US" sz="800" u="none" strike="noStrike">
                          <a:effectLst/>
                        </a:rPr>
                        <a:t>통합공정 단위생산성 향상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407413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22. </a:t>
                      </a:r>
                      <a:r>
                        <a:rPr lang="ko-KR" altLang="en-US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통합공정 자율 동작 정확도</a:t>
                      </a: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자율제어 예측 정확도</a:t>
                      </a: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chemeClr val="bg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41157"/>
                  </a:ext>
                </a:extLst>
              </a:tr>
              <a:tr h="211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23. </a:t>
                      </a:r>
                      <a:r>
                        <a:rPr lang="ko-KR" altLang="en-US" sz="800" u="none" strike="noStrike" dirty="0">
                          <a:solidFill>
                            <a:schemeClr val="bg2"/>
                          </a:solidFill>
                          <a:effectLst/>
                        </a:rPr>
                        <a:t>자율제조 플랫폼기술 실증</a:t>
                      </a:r>
                      <a:endParaRPr lang="ko-KR" altLang="en-US" sz="800" b="0" i="0" u="none" strike="noStrike" dirty="0">
                        <a:solidFill>
                          <a:schemeClr val="bg2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96127" marR="6408" marT="6408" marB="0" anchor="ctr">
                    <a:lnL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551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660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61CFA3B-AA12-46B6-C057-D45E8CE50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9099342" cy="561944"/>
          </a:xfrm>
        </p:spPr>
        <p:txBody>
          <a:bodyPr anchor="ctr"/>
          <a:lstStyle/>
          <a:p>
            <a:r>
              <a:rPr lang="en-US" altLang="ko-KR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PROJECT : </a:t>
            </a:r>
            <a:r>
              <a:rPr lang="ko-KR" altLang="en-US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세방전지 창원공장 연분공정 </a:t>
            </a:r>
            <a:r>
              <a:rPr lang="en-US" altLang="ko-KR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SCADA </a:t>
            </a:r>
            <a:r>
              <a:rPr lang="ko-KR" altLang="en-US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구축</a:t>
            </a:r>
            <a:r>
              <a:rPr lang="en-US" altLang="ko-KR" b="0" dirty="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endParaRPr lang="ko-KR" altLang="en-US" b="0" dirty="0">
              <a:solidFill>
                <a:schemeClr val="tx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2FADFE4-6140-064F-B470-E71EBD8673D3}"/>
              </a:ext>
            </a:extLst>
          </p:cNvPr>
          <p:cNvGraphicFramePr>
            <a:graphicFrameLocks noGrp="1"/>
          </p:cNvGraphicFramePr>
          <p:nvPr/>
        </p:nvGraphicFramePr>
        <p:xfrm>
          <a:off x="631572" y="2604657"/>
          <a:ext cx="3594064" cy="351905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98516">
                  <a:extLst>
                    <a:ext uri="{9D8B030D-6E8A-4147-A177-3AD203B41FA5}">
                      <a16:colId xmlns:a16="http://schemas.microsoft.com/office/drawing/2014/main" val="1540111326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  <a:gridCol w="898516">
                  <a:extLst>
                    <a:ext uri="{9D8B030D-6E8A-4147-A177-3AD203B41FA5}">
                      <a16:colId xmlns:a16="http://schemas.microsoft.com/office/drawing/2014/main" val="176562588"/>
                    </a:ext>
                  </a:extLst>
                </a:gridCol>
              </a:tblGrid>
              <a:tr h="363250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투입자</a:t>
                      </a:r>
                      <a:endParaRPr lang="ko-KR" altLang="en-US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종료일자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PM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84" rtl="0" eaLnBrk="1" latinLnBrk="1" hangingPunct="1"/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이용현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2026.12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드림통신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1219184" rtl="0" eaLnBrk="1" latinLnBrk="1" hangingPunct="1"/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CCTV,N/W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2026.12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724310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이루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ENG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1219184" rtl="0" eaLnBrk="1" latinLnBrk="1" hangingPunct="1"/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PLC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2026.12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68690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엔시스템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1219184" rtl="0" eaLnBrk="1" latinLnBrk="1" hangingPunct="1"/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SCADA</a:t>
                      </a: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2026.12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967356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PMO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1219184" rtl="0" eaLnBrk="1" latinLnBrk="1" hangingPunct="1"/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이영원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2026.12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569684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PMO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1219184" rtl="0" eaLnBrk="1" latinLnBrk="1" hangingPunct="1"/>
                      <a:r>
                        <a:rPr lang="ko-KR" altLang="en-US" sz="1000" kern="12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김남웅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2026.12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959594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897790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340284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089026"/>
                  </a:ext>
                </a:extLst>
              </a:tr>
              <a:tr h="31558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8746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38D3C07-036E-67E9-B70A-FB79B46C4BAE}"/>
              </a:ext>
            </a:extLst>
          </p:cNvPr>
          <p:cNvGraphicFramePr>
            <a:graphicFrameLocks noGrp="1"/>
          </p:cNvGraphicFramePr>
          <p:nvPr/>
        </p:nvGraphicFramePr>
        <p:xfrm>
          <a:off x="631571" y="891697"/>
          <a:ext cx="3594063" cy="129240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837946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1756117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</a:tblGrid>
              <a:tr h="4022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105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fontAlgn="ctr"/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금월 투입 </a:t>
                      </a:r>
                      <a:r>
                        <a:rPr lang="en-US" altLang="ko-K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누적 투입 </a:t>
                      </a:r>
                      <a:r>
                        <a:rPr lang="en-US" altLang="ko-KR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MM</a:t>
                      </a:r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익월 투입 예상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D3490C7-9578-C8E0-2EB4-5C3ED402757E}"/>
              </a:ext>
            </a:extLst>
          </p:cNvPr>
          <p:cNvGraphicFramePr>
            <a:graphicFrameLocks noGrp="1"/>
          </p:cNvGraphicFramePr>
          <p:nvPr/>
        </p:nvGraphicFramePr>
        <p:xfrm>
          <a:off x="4433455" y="891698"/>
          <a:ext cx="7126973" cy="129240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142252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2462268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  <a:gridCol w="1153125">
                  <a:extLst>
                    <a:ext uri="{9D8B030D-6E8A-4147-A177-3AD203B41FA5}">
                      <a16:colId xmlns:a16="http://schemas.microsoft.com/office/drawing/2014/main" val="3073445094"/>
                    </a:ext>
                  </a:extLst>
                </a:gridCol>
                <a:gridCol w="2369328">
                  <a:extLst>
                    <a:ext uri="{9D8B030D-6E8A-4147-A177-3AD203B41FA5}">
                      <a16:colId xmlns:a16="http://schemas.microsoft.com/office/drawing/2014/main" val="973327844"/>
                    </a:ext>
                  </a:extLst>
                </a:gridCol>
              </a:tblGrid>
              <a:tr h="41062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392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7F87A4-89C0-4162-1117-5E5A99FCE131}"/>
              </a:ext>
            </a:extLst>
          </p:cNvPr>
          <p:cNvGraphicFramePr>
            <a:graphicFrameLocks noGrp="1"/>
          </p:cNvGraphicFramePr>
          <p:nvPr/>
        </p:nvGraphicFramePr>
        <p:xfrm>
          <a:off x="4433455" y="2604654"/>
          <a:ext cx="7126972" cy="3515257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563486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3563486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</a:tblGrid>
              <a:tr h="374073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 현황 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(4/27 ~ 5/8)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향후일정 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 ~ 5/15)</a:t>
                      </a:r>
                      <a:endParaRPr lang="ko-KR" altLang="en-US" sz="1100" b="1" i="0" u="none" strike="noStrike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1411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CCTV, N/W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모니터 판넬 제작도면 설계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5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말 공사 시작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PLC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현장 분석 진행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~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PLC, HMI,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판넬수정관련 현장 확인 및 프로그램 분석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공사  체크 리스트 확인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샘플설비 공사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대상설비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연분기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11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호기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연분 </a:t>
                      </a:r>
                      <a:r>
                        <a:rPr kumimoji="1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이송기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-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5/1 :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현장 미팅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(PM/PLC/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전장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- 5/2 ~ 5/3  :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전장공사 및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PLC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프로그램 수정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- 5/4 :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설비 시운전 빛 정상가동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이슈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485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통신 연결 오류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485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통신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TEST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는 차주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(5/9)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진행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SCADA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T="10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CCTV, N/W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PLC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1. 11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연분기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통신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TEST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작업관련 준비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PLC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사전 </a:t>
                      </a:r>
                      <a:r>
                        <a:rPr kumimoji="1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시물레이션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통신케이블  준비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이루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ENG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2. 11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 통신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TEST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공사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설비 </a:t>
                      </a:r>
                      <a:r>
                        <a:rPr kumimoji="0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비가동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일정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5/ 9 ~ 5/10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5/9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 배선 및 통신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TEST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3. 2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 공사 일정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(5/9 ~ 5/10)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대상설비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연분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14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호기 및  </a:t>
                      </a:r>
                      <a:r>
                        <a:rPr kumimoji="1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이송기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공사진행 일정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- 5/9 ~ 10 :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전장공사 및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PLC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프로그램 수정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- 5/11 :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설비 시운전 및 정상가동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#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차기 공사 일정은 진행 상황 참조 하여 협의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T="108000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C30E279-5C44-00AD-5EB6-23338B2621C4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(*)Online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371082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ABBEAD-13B5-2D2C-7BE3-AB3B8DBE5FD8}"/>
              </a:ext>
            </a:extLst>
          </p:cNvPr>
          <p:cNvSpPr txBox="1"/>
          <p:nvPr/>
        </p:nvSpPr>
        <p:spPr>
          <a:xfrm>
            <a:off x="563934" y="653474"/>
            <a:ext cx="47852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DXel</a:t>
            </a:r>
            <a:r>
              <a:rPr lang="ko-KR" altLang="en-US" sz="4000" b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주간 업무 보고서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ADDA9A-2589-DEC7-F050-BFC24F63A290}"/>
              </a:ext>
            </a:extLst>
          </p:cNvPr>
          <p:cNvGraphicFramePr>
            <a:graphicFrameLocks noGrp="1"/>
          </p:cNvGraphicFramePr>
          <p:nvPr/>
        </p:nvGraphicFramePr>
        <p:xfrm>
          <a:off x="5389420" y="4902331"/>
          <a:ext cx="6271492" cy="12149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6544">
                  <a:extLst>
                    <a:ext uri="{9D8B030D-6E8A-4147-A177-3AD203B41FA5}">
                      <a16:colId xmlns:a16="http://schemas.microsoft.com/office/drawing/2014/main" val="920059606"/>
                    </a:ext>
                  </a:extLst>
                </a:gridCol>
                <a:gridCol w="4354948">
                  <a:extLst>
                    <a:ext uri="{9D8B030D-6E8A-4147-A177-3AD203B41FA5}">
                      <a16:colId xmlns:a16="http://schemas.microsoft.com/office/drawing/2014/main" val="3314683994"/>
                    </a:ext>
                  </a:extLst>
                </a:gridCol>
              </a:tblGrid>
              <a:tr h="6074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보고일자</a:t>
                      </a:r>
                      <a:endParaRPr lang="ko-KR" altLang="en-US" b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altLang="ko-KR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2026.05.11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05067"/>
                  </a:ext>
                </a:extLst>
              </a:tr>
              <a:tr h="6074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센터장</a:t>
                      </a:r>
                      <a:endParaRPr lang="en-US" altLang="ko-KR" b="0" dirty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김동심</a:t>
                      </a:r>
                      <a:endParaRPr lang="ko-KR" altLang="en-US" b="0" dirty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2446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46E9705-4C0A-DDF3-6154-A56907063C22}"/>
              </a:ext>
            </a:extLst>
          </p:cNvPr>
          <p:cNvSpPr txBox="1"/>
          <p:nvPr/>
        </p:nvSpPr>
        <p:spPr>
          <a:xfrm>
            <a:off x="3048000" y="310578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320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Technical Center</a:t>
            </a:r>
            <a:endParaRPr lang="ko-KR" altLang="en-US" sz="320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6080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44DD-F8DE-DE85-EA75-4EE49BF6E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C9D486B-0170-82E9-6566-16E49BD1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연구소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E7C5F-5C11-27E0-6CE9-751900EB8918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(*)Online</a:t>
            </a:r>
            <a:endParaRPr lang="ko-KR" altLang="en-US" sz="100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C574EC0-DBF8-4D74-3654-EBE21B042F5B}"/>
              </a:ext>
            </a:extLst>
          </p:cNvPr>
          <p:cNvGraphicFramePr>
            <a:graphicFrameLocks noGrp="1"/>
          </p:cNvGraphicFramePr>
          <p:nvPr/>
        </p:nvGraphicFramePr>
        <p:xfrm>
          <a:off x="631571" y="2583870"/>
          <a:ext cx="10860774" cy="3662919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77336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4530437">
                  <a:extLst>
                    <a:ext uri="{9D8B030D-6E8A-4147-A177-3AD203B41FA5}">
                      <a16:colId xmlns:a16="http://schemas.microsoft.com/office/drawing/2014/main" val="692652296"/>
                    </a:ext>
                  </a:extLst>
                </a:gridCol>
                <a:gridCol w="4953001">
                  <a:extLst>
                    <a:ext uri="{9D8B030D-6E8A-4147-A177-3AD203B41FA5}">
                      <a16:colId xmlns:a16="http://schemas.microsoft.com/office/drawing/2014/main" val="2352400565"/>
                    </a:ext>
                  </a:extLst>
                </a:gridCol>
              </a:tblGrid>
              <a:tr h="346899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12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과제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401" marR="94401" marT="37747" marB="377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12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금주 업무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(4/27 ~ 5/8)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401" marR="94401" marT="37747" marB="37747" anchor="ctr" horzOverflow="overflow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12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차주 계획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 ~ 5/15)</a:t>
                      </a:r>
                    </a:p>
                  </a:txBody>
                  <a:tcPr marL="94401" marR="94401" marT="37747" marB="37747" anchor="ctr" horzOverflow="overflow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3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4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TYM &gt;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전환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 수집 및 성능 확인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(4/24~)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&gt; CPU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점유율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10%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이하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메모리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10%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이하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MES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인터페이스 적용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(4/24~)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&gt; Tag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바인딩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및 해제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&gt; Fence In/Out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Digital Twin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용 연결 가능한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Websocket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프로토콜 신규 추가 개발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LS-1000 PACKET Log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기록 설정 추가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: 1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 기준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30GB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기록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(*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현재시간 기준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24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로그 보관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UG-230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테스트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태그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 동작 테스트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경광등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연동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챗봇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별도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UI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챗봇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에이전트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RAG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기능 적용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(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기능과 프로그램 정의를 문서화하여 빠르게 검색 가능하도록 수정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재학습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Gemma 4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E4B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베이스 모델에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도메인 데이터로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QLoRA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파인튜닝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학습 결과를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GGUF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q4_k_m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포맷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(4-bit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양자화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5.34GB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으로 변환하여 운영 서버 배포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(llama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포맷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GGUF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 변환하며 경량화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36000" marR="9411" marT="72000" marB="3600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TYM &gt;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전환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 수집 및 성능 확인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(4/24~)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LS-1000 Tag </a:t>
                      </a:r>
                      <a:r>
                        <a:rPr lang="ko-KR" altLang="en-US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측위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오류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: Tag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배터리 문제 또는 서버 성능 이슈 등 확인 필요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현대건설기계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변경 서버 대상 설치 파일 구성</a:t>
                      </a:r>
                      <a:b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BC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출장 시 원격 지원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UG-230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테스트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거리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 동작 테스트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경광등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연동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84A1D7D-E2A6-B5EE-AFFC-BF23E1D07EC9}"/>
              </a:ext>
            </a:extLst>
          </p:cNvPr>
          <p:cNvGraphicFramePr>
            <a:graphicFrameLocks noGrp="1"/>
          </p:cNvGraphicFramePr>
          <p:nvPr/>
        </p:nvGraphicFramePr>
        <p:xfrm>
          <a:off x="631571" y="891697"/>
          <a:ext cx="3594063" cy="158913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837946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1756117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</a:tblGrid>
              <a:tr h="4022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연구원</a:t>
                      </a:r>
                      <a:endParaRPr lang="ko-KR" altLang="en-US" sz="1050" b="1" i="0" u="none" strike="noStrike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fontAlgn="ctr"/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김무현 상무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연구소장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김동심</a:t>
                      </a:r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수석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김태수 선임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  <a:tr h="296732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김완 사원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28298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827ECB3-122C-6ADC-2407-120305523BF3}"/>
              </a:ext>
            </a:extLst>
          </p:cNvPr>
          <p:cNvGraphicFramePr>
            <a:graphicFrameLocks noGrp="1"/>
          </p:cNvGraphicFramePr>
          <p:nvPr/>
        </p:nvGraphicFramePr>
        <p:xfrm>
          <a:off x="4433455" y="891697"/>
          <a:ext cx="7058891" cy="1589135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302327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1680877">
                  <a:extLst>
                    <a:ext uri="{9D8B030D-6E8A-4147-A177-3AD203B41FA5}">
                      <a16:colId xmlns:a16="http://schemas.microsoft.com/office/drawing/2014/main" val="1124684399"/>
                    </a:ext>
                  </a:extLst>
                </a:gridCol>
                <a:gridCol w="2037844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  <a:gridCol w="2037843">
                  <a:extLst>
                    <a:ext uri="{9D8B030D-6E8A-4147-A177-3AD203B41FA5}">
                      <a16:colId xmlns:a16="http://schemas.microsoft.com/office/drawing/2014/main" val="1246579884"/>
                    </a:ext>
                  </a:extLst>
                </a:gridCol>
              </a:tblGrid>
              <a:tr h="3936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 과제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84" rtl="0" eaLnBrk="1" fontAlgn="ctr" latinLnBrk="1" hangingPunct="1"/>
                      <a:r>
                        <a:rPr lang="ko-KR" altLang="en-US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책임자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84" rtl="0" eaLnBrk="1" fontAlgn="ctr" latinLnBrk="1" hangingPunct="1"/>
                      <a:r>
                        <a:rPr lang="ko-KR" altLang="en-US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담당자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398504">
                <a:tc>
                  <a:txBody>
                    <a:bodyPr/>
                    <a:lstStyle/>
                    <a:p>
                      <a:pPr marL="0" indent="90488" algn="ctr" fontAlgn="ctr"/>
                      <a:r>
                        <a:rPr lang="en-US" altLang="ko-KR" sz="900" b="0" i="0" u="none" strike="noStrike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endParaRPr lang="ko-KR" altLang="en-US" sz="9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김동심</a:t>
                      </a:r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김태수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연구과제 등록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398504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r>
                        <a:rPr lang="ko-KR" altLang="en-US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자산관리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김동심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사내 프로젝트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398504">
                <a:tc>
                  <a:txBody>
                    <a:bodyPr/>
                    <a:lstStyle/>
                    <a:p>
                      <a:pPr marL="0" indent="90488" algn="ctr" defTabSz="1219184" rtl="0" eaLnBrk="1" fontAlgn="ctr" latinLnBrk="1" hangingPunct="1"/>
                      <a:endParaRPr lang="ko-KR" altLang="en-US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812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331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93777-6E04-F20F-113B-B97B7DEA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9737931-1A6A-83BC-34A9-12E483E9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연구소 </a:t>
            </a:r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기술지원현황</a:t>
            </a:r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endParaRPr lang="ko-KR" altLang="en-US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0B93C-066D-B383-0555-EF50E7DF4E6A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(*)Online</a:t>
            </a:r>
            <a:endParaRPr lang="ko-KR" altLang="en-US" sz="10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9F97C2A-AFAC-3DA7-BA9B-A2993F15EE00}"/>
              </a:ext>
            </a:extLst>
          </p:cNvPr>
          <p:cNvGraphicFramePr>
            <a:graphicFrameLocks noGrp="1"/>
          </p:cNvGraphicFramePr>
          <p:nvPr/>
        </p:nvGraphicFramePr>
        <p:xfrm>
          <a:off x="631571" y="814754"/>
          <a:ext cx="10860774" cy="5545271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77336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4530437">
                  <a:extLst>
                    <a:ext uri="{9D8B030D-6E8A-4147-A177-3AD203B41FA5}">
                      <a16:colId xmlns:a16="http://schemas.microsoft.com/office/drawing/2014/main" val="692652296"/>
                    </a:ext>
                  </a:extLst>
                </a:gridCol>
                <a:gridCol w="4953001">
                  <a:extLst>
                    <a:ext uri="{9D8B030D-6E8A-4147-A177-3AD203B41FA5}">
                      <a16:colId xmlns:a16="http://schemas.microsoft.com/office/drawing/2014/main" val="2352400565"/>
                    </a:ext>
                  </a:extLst>
                </a:gridCol>
              </a:tblGrid>
              <a:tr h="39272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12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지원</a:t>
                      </a:r>
                      <a:endParaRPr kumimoji="0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401" marR="94401" marT="37747" marB="377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12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금주 업무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(4/27 ~ 5/8)</a:t>
                      </a:r>
                    </a:p>
                  </a:txBody>
                  <a:tcPr marL="94401" marR="94401" marT="37747" marB="37747" anchor="ctr" horzOverflow="overflow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Wingdings" panose="05000000000000000000" pitchFamily="2" charset="2"/>
                        <a:defRPr kumimoji="1" sz="1200" b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1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Font typeface="Arial" panose="020B0604020202020204" pitchFamily="34" charset="0"/>
                        <a:defRPr kumimoji="1" sz="9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9B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차주 계획 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 ~ 5/15)</a:t>
                      </a:r>
                    </a:p>
                  </a:txBody>
                  <a:tcPr marL="94401" marR="94401" marT="37747" marB="37747" anchor="ctr" horzOverflow="overflow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10176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경영지원</a:t>
                      </a:r>
                      <a:endParaRPr lang="en-US" altLang="ko-KR" sz="1000" b="1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4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홈페이지 신규 구축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디자인 추가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수정 요청사항 작성 및 전달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(4/29)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이미지 추가 요청 사항 전달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(5/6)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서브 화면 업체 시안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 수정 요청사항 전달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(4/29)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: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회사소개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제품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솔루션 상세 페이지 등 벤치마킹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(4/24~28)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: 2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 수정 시안 리뷰 및 추가 요청사항 취합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(5/8~11)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3600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홈페이지 신규 구축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시안 검토 및 추가 요청사항 수집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전달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: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서브 페이지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 수정 시안 리뷰 및 추가 요청사항 취합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(5/8~11)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기본 레이아웃 개발 착수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(5/11~)</a:t>
                      </a:r>
                    </a:p>
                  </a:txBody>
                  <a:tcPr marL="36000" marR="9411" marT="72000" marB="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  <a:tr h="977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0" dirty="0">
                          <a:solidFill>
                            <a:prstClr val="white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Business Center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4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세방전지 납품 대상 서버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및 모니터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사양 검수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(4/27)</a:t>
                      </a: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대한전선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AI Agent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문서 작업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F/U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제조 공정 및 외관검사기 운영 방식 확인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(5/7)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- 2D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외관검사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API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인터페이스 확인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(5/7)</a:t>
                      </a: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3600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대한전선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SCADA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정기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 인터페이스 모듈 개발 및 테스트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: MES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전송 기준 정보 확인 필요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SMS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발송 기준정보 추가 업무 협의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(5/11)</a:t>
                      </a: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67984"/>
                  </a:ext>
                </a:extLst>
              </a:tr>
              <a:tr h="8093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0" dirty="0">
                          <a:solidFill>
                            <a:prstClr val="white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Development Center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4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3600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626173"/>
                  </a:ext>
                </a:extLst>
              </a:tr>
              <a:tr h="8844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0" dirty="0">
                          <a:solidFill>
                            <a:prstClr val="white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China </a:t>
                      </a:r>
                      <a:r>
                        <a:rPr lang="en-US" altLang="ko-KR" sz="1000" b="1" kern="0" dirty="0" err="1">
                          <a:solidFill>
                            <a:prstClr val="white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Chángzhōu</a:t>
                      </a:r>
                      <a:r>
                        <a:rPr lang="en-US" altLang="ko-KR" sz="1000" b="1" kern="0" dirty="0">
                          <a:solidFill>
                            <a:prstClr val="white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Center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4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운영 업무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3600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운영 업무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프로젝트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DMCJ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라인 추가에 따른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MES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기준정보 및 프로세스 업무 협의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6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양산 계획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276643"/>
                  </a:ext>
                </a:extLst>
              </a:tr>
              <a:tr h="8698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기타</a:t>
                      </a:r>
                      <a:endParaRPr lang="en-US" altLang="ko-KR" sz="1000" b="1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411" marR="9411" marT="94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보안 솔루션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(Bitdefender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gravityzone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서버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 적용 완료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(**11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번 서버 제외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11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번 서버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en-US" altLang="ko-KR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RealTrek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 및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학습용 사용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LS-1000 UDP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통신 프로토콜 문서 번역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중국어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-&gt;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한국어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전체 검수 및 품질 개선</a:t>
                      </a: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특성화고 채용연계형 현장실습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이력서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포트폴리오 검토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3600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특성화고 채용연계형 현장실습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서울 </a:t>
                      </a:r>
                      <a:r>
                        <a:rPr lang="ko-KR" altLang="en-US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디지텍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고등학교 면접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(5/12)</a:t>
                      </a:r>
                    </a:p>
                    <a:p>
                      <a:pPr marL="228600" marR="0" lvl="0" indent="-228600" algn="l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kern="10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어드밴스사의</a:t>
                      </a:r>
                      <a:r>
                        <a:rPr lang="ko-KR" altLang="en-US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외관검사기 제품 소개 자료 한글화 작업 </a:t>
                      </a:r>
                      <a: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(~5/22)</a:t>
                      </a:r>
                      <a:br>
                        <a:rPr lang="en-US" altLang="ko-KR" sz="90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9411" marT="72000" marB="0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5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690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4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9E94E-1A3E-078D-6617-05C1578AC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0E048FA2-37FE-CA18-B457-2F6CF9AA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홈페이지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D4CE3-85C2-0E7E-989B-12F4B4888042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(*)Online</a:t>
            </a:r>
            <a:endParaRPr lang="ko-KR" altLang="en-US" sz="100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EBF7570-C832-BAE3-A69C-FADD0D4066F0}"/>
              </a:ext>
            </a:extLst>
          </p:cNvPr>
          <p:cNvGraphicFramePr>
            <a:graphicFrameLocks noGrp="1"/>
          </p:cNvGraphicFramePr>
          <p:nvPr/>
        </p:nvGraphicFramePr>
        <p:xfrm>
          <a:off x="631572" y="1127916"/>
          <a:ext cx="10826136" cy="514588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812241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7013895">
                  <a:extLst>
                    <a:ext uri="{9D8B030D-6E8A-4147-A177-3AD203B41FA5}">
                      <a16:colId xmlns:a16="http://schemas.microsoft.com/office/drawing/2014/main" val="2318444150"/>
                    </a:ext>
                  </a:extLst>
                </a:gridCol>
              </a:tblGrid>
              <a:tr h="38242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홈페이지 진행 사항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4763464">
                <a:tc>
                  <a:txBody>
                    <a:bodyPr/>
                    <a:lstStyle/>
                    <a:p>
                      <a:pPr marL="228600" indent="-228600" algn="l" defTabSz="1219184" rtl="0" eaLnBrk="1" fontAlgn="ctr" latinLnBrk="1" hangingPunct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endParaRPr lang="en-US" altLang="ko-KR" sz="90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08000" marR="0" marT="360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4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endParaRPr lang="en-US" altLang="ko-KR" sz="900" b="0" i="0" u="none" strike="noStrike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08000" marR="0" marT="360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4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</a:tbl>
          </a:graphicData>
        </a:graphic>
      </p:graphicFrame>
      <p:graphicFrame>
        <p:nvGraphicFramePr>
          <p:cNvPr id="6" name="표 3">
            <a:extLst>
              <a:ext uri="{FF2B5EF4-FFF2-40B4-BE49-F238E27FC236}">
                <a16:creationId xmlns:a16="http://schemas.microsoft.com/office/drawing/2014/main" id="{96232CE5-E204-6A67-E794-1586E6F7B14D}"/>
              </a:ext>
            </a:extLst>
          </p:cNvPr>
          <p:cNvGraphicFramePr>
            <a:graphicFrameLocks noGrp="1"/>
          </p:cNvGraphicFramePr>
          <p:nvPr/>
        </p:nvGraphicFramePr>
        <p:xfrm>
          <a:off x="1031409" y="1653348"/>
          <a:ext cx="9986466" cy="44572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17">
                  <a:extLst>
                    <a:ext uri="{9D8B030D-6E8A-4147-A177-3AD203B41FA5}">
                      <a16:colId xmlns:a16="http://schemas.microsoft.com/office/drawing/2014/main" val="451516074"/>
                    </a:ext>
                  </a:extLst>
                </a:gridCol>
                <a:gridCol w="790517">
                  <a:extLst>
                    <a:ext uri="{9D8B030D-6E8A-4147-A177-3AD203B41FA5}">
                      <a16:colId xmlns:a16="http://schemas.microsoft.com/office/drawing/2014/main" val="3369984324"/>
                    </a:ext>
                  </a:extLst>
                </a:gridCol>
                <a:gridCol w="790517">
                  <a:extLst>
                    <a:ext uri="{9D8B030D-6E8A-4147-A177-3AD203B41FA5}">
                      <a16:colId xmlns:a16="http://schemas.microsoft.com/office/drawing/2014/main" val="3450374884"/>
                    </a:ext>
                  </a:extLst>
                </a:gridCol>
                <a:gridCol w="790517">
                  <a:extLst>
                    <a:ext uri="{9D8B030D-6E8A-4147-A177-3AD203B41FA5}">
                      <a16:colId xmlns:a16="http://schemas.microsoft.com/office/drawing/2014/main" val="1126656476"/>
                    </a:ext>
                  </a:extLst>
                </a:gridCol>
                <a:gridCol w="790517">
                  <a:extLst>
                    <a:ext uri="{9D8B030D-6E8A-4147-A177-3AD203B41FA5}">
                      <a16:colId xmlns:a16="http://schemas.microsoft.com/office/drawing/2014/main" val="3683219505"/>
                    </a:ext>
                  </a:extLst>
                </a:gridCol>
                <a:gridCol w="790517">
                  <a:extLst>
                    <a:ext uri="{9D8B030D-6E8A-4147-A177-3AD203B41FA5}">
                      <a16:colId xmlns:a16="http://schemas.microsoft.com/office/drawing/2014/main" val="4150690051"/>
                    </a:ext>
                  </a:extLst>
                </a:gridCol>
                <a:gridCol w="790517">
                  <a:extLst>
                    <a:ext uri="{9D8B030D-6E8A-4147-A177-3AD203B41FA5}">
                      <a16:colId xmlns:a16="http://schemas.microsoft.com/office/drawing/2014/main" val="2170521196"/>
                    </a:ext>
                  </a:extLst>
                </a:gridCol>
                <a:gridCol w="790517">
                  <a:extLst>
                    <a:ext uri="{9D8B030D-6E8A-4147-A177-3AD203B41FA5}">
                      <a16:colId xmlns:a16="http://schemas.microsoft.com/office/drawing/2014/main" val="3820877312"/>
                    </a:ext>
                  </a:extLst>
                </a:gridCol>
              </a:tblGrid>
              <a:tr h="23881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lang="ko-KR" altLang="en-US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  <a:r>
                        <a:rPr lang="ko-KR" altLang="en-US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8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rgbClr val="10546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1W</a:t>
                      </a:r>
                      <a:endParaRPr lang="ko-KR" altLang="en-US" sz="1050" b="1" dirty="0">
                        <a:solidFill>
                          <a:srgbClr val="10546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2W</a:t>
                      </a:r>
                      <a:endParaRPr lang="ko-KR" altLang="en-US" sz="1050" b="1" dirty="0">
                        <a:solidFill>
                          <a:srgbClr val="10546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3W</a:t>
                      </a:r>
                      <a:endParaRPr lang="ko-KR" altLang="en-US" sz="1050" b="1" dirty="0">
                        <a:solidFill>
                          <a:srgbClr val="10546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4W</a:t>
                      </a:r>
                      <a:endParaRPr lang="ko-KR" altLang="en-US" sz="1050" b="1" dirty="0">
                        <a:solidFill>
                          <a:srgbClr val="10546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1W</a:t>
                      </a:r>
                      <a:endParaRPr lang="ko-KR" altLang="en-US" sz="1050" b="1" dirty="0">
                        <a:solidFill>
                          <a:srgbClr val="10546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2W</a:t>
                      </a:r>
                      <a:endParaRPr lang="ko-KR" altLang="en-US" sz="1050" b="1" dirty="0">
                        <a:solidFill>
                          <a:srgbClr val="10546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3W</a:t>
                      </a:r>
                      <a:endParaRPr lang="ko-KR" altLang="en-US" sz="1050" b="1" dirty="0">
                        <a:solidFill>
                          <a:srgbClr val="10546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10546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4W</a:t>
                      </a:r>
                      <a:endParaRPr lang="ko-KR" altLang="en-US" sz="1050" b="1" dirty="0">
                        <a:solidFill>
                          <a:srgbClr val="10546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21898"/>
                  </a:ext>
                </a:extLst>
              </a:tr>
              <a:tr h="659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</a:t>
                      </a:r>
                      <a:r>
                        <a:rPr lang="en-US" altLang="ko-KR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기획 및 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122998"/>
                  </a:ext>
                </a:extLst>
              </a:tr>
              <a:tr h="659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서브 기획 및 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260872"/>
                  </a:ext>
                </a:extLst>
              </a:tr>
              <a:tr h="659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서브 상세 화면 기획 및 디자인 </a:t>
                      </a:r>
                      <a:r>
                        <a:rPr lang="en-US" altLang="ko-KR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제품</a:t>
                      </a:r>
                      <a:r>
                        <a:rPr lang="en-US" altLang="ko-KR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솔루션</a:t>
                      </a:r>
                      <a:r>
                        <a:rPr lang="en-US" altLang="ko-KR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05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248459"/>
                  </a:ext>
                </a:extLst>
              </a:tr>
              <a:tr h="659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추가 요청</a:t>
                      </a:r>
                      <a:r>
                        <a:rPr lang="en-US" altLang="ko-KR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및</a:t>
                      </a:r>
                      <a:r>
                        <a:rPr lang="en-US" altLang="ko-KR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수정</a:t>
                      </a:r>
                      <a:r>
                        <a:rPr lang="en-US" altLang="ko-KR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사항 </a:t>
                      </a:r>
                      <a:r>
                        <a:rPr lang="en-US" altLang="ko-KR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디자인</a:t>
                      </a:r>
                      <a:r>
                        <a:rPr lang="en-US" altLang="ko-KR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05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en-US" altLang="ko-KR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79613"/>
                  </a:ext>
                </a:extLst>
              </a:tr>
              <a:tr h="659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222576"/>
                  </a:ext>
                </a:extLst>
              </a:tr>
              <a:tr h="659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Open</a:t>
                      </a:r>
                      <a:endParaRPr lang="ko-KR" altLang="en-US" sz="1050" kern="1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494561"/>
                  </a:ext>
                </a:extLst>
              </a:tr>
            </a:tbl>
          </a:graphicData>
        </a:graphic>
      </p:graphicFrame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F33075AC-4F39-74AB-022E-881DC67A4FBB}"/>
              </a:ext>
            </a:extLst>
          </p:cNvPr>
          <p:cNvSpPr/>
          <p:nvPr/>
        </p:nvSpPr>
        <p:spPr>
          <a:xfrm>
            <a:off x="10326612" y="5678568"/>
            <a:ext cx="598867" cy="25113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rgbClr val="0F5486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E9BA6CE-B1D3-F460-47C3-71591AD0204B}"/>
              </a:ext>
            </a:extLst>
          </p:cNvPr>
          <p:cNvSpPr/>
          <p:nvPr/>
        </p:nvSpPr>
        <p:spPr>
          <a:xfrm>
            <a:off x="8004220" y="4344114"/>
            <a:ext cx="2092815" cy="25200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rgbClr val="0F5486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EF63BB82-6337-BC1C-BE58-39A03C6BD08D}"/>
              </a:ext>
            </a:extLst>
          </p:cNvPr>
          <p:cNvSpPr/>
          <p:nvPr/>
        </p:nvSpPr>
        <p:spPr>
          <a:xfrm>
            <a:off x="4808113" y="2381998"/>
            <a:ext cx="1405944" cy="25200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rgbClr val="0F5486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FBC78B7-F738-B7F0-5CE0-B45B17F1A2A3}"/>
              </a:ext>
            </a:extLst>
          </p:cNvPr>
          <p:cNvSpPr/>
          <p:nvPr/>
        </p:nvSpPr>
        <p:spPr>
          <a:xfrm>
            <a:off x="5054958" y="2998731"/>
            <a:ext cx="2730321" cy="25200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rgbClr val="0F5486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69B3F8C9-392F-208E-DA5D-09A4D1CC8EBD}"/>
              </a:ext>
            </a:extLst>
          </p:cNvPr>
          <p:cNvSpPr/>
          <p:nvPr/>
        </p:nvSpPr>
        <p:spPr>
          <a:xfrm>
            <a:off x="5872767" y="3692682"/>
            <a:ext cx="3490174" cy="25200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rgbClr val="0F5486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F287D6B4-6D89-4443-2A36-204AE6BE881A}"/>
              </a:ext>
            </a:extLst>
          </p:cNvPr>
          <p:cNvSpPr/>
          <p:nvPr/>
        </p:nvSpPr>
        <p:spPr>
          <a:xfrm>
            <a:off x="5640946" y="4995546"/>
            <a:ext cx="4456089" cy="25200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rgbClr val="0F5486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0955876"/>
      </p:ext>
    </p:extLst>
  </p:cSld>
  <p:clrMapOvr>
    <a:masterClrMapping/>
  </p:clrMapOvr>
</p:sld>
</file>

<file path=ppt/theme/theme1.xml><?xml version="1.0" encoding="utf-8"?>
<a:theme xmlns:a="http://schemas.openxmlformats.org/drawingml/2006/main" name="CORPORATE">
  <a:themeElements>
    <a:clrScheme name="Dassault">
      <a:dk1>
        <a:srgbClr val="0F5486"/>
      </a:dk1>
      <a:lt1>
        <a:srgbClr val="FFFFFF"/>
      </a:lt1>
      <a:dk2>
        <a:srgbClr val="001871"/>
      </a:dk2>
      <a:lt2>
        <a:srgbClr val="DA291C"/>
      </a:lt2>
      <a:accent1>
        <a:srgbClr val="97999B"/>
      </a:accent1>
      <a:accent2>
        <a:srgbClr val="00B2A9"/>
      </a:accent2>
      <a:accent3>
        <a:srgbClr val="FFCD00"/>
      </a:accent3>
      <a:accent4>
        <a:srgbClr val="E87722"/>
      </a:accent4>
      <a:accent5>
        <a:srgbClr val="C8D300"/>
      </a:accent5>
      <a:accent6>
        <a:srgbClr val="000000"/>
      </a:accent6>
      <a:hlink>
        <a:srgbClr val="0000FF"/>
      </a:hlink>
      <a:folHlink>
        <a:srgbClr val="800080"/>
      </a:folHlink>
    </a:clrScheme>
    <a:fontScheme name="Custom 57">
      <a:majorFont>
        <a:latin typeface="3ds SemiBold"/>
        <a:ea typeface=""/>
        <a:cs typeface=""/>
      </a:majorFont>
      <a:minorFont>
        <a:latin typeface="3d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rgbClr val="0F5486"/>
          </a:solidFill>
        </a:ln>
      </a:spPr>
      <a:bodyPr lIns="0" tIns="0" rIns="0" bIns="0" rtlCol="0" anchor="ctr">
        <a:noAutofit/>
      </a:bodyPr>
      <a:lstStyle>
        <a:defPPr algn="ctr">
          <a:spcBef>
            <a:spcPts val="600"/>
          </a:spcBef>
          <a:defRPr sz="1200" smtClean="0">
            <a:latin typeface="3ds Condensed" panose="02000503020000020004" pitchFamily="50" charset="0"/>
            <a:ea typeface="휴먼모음T" panose="02030504000101010101" pitchFamily="18" charset="-127"/>
          </a:defRPr>
        </a:defPPr>
      </a:lst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dirty="0" smtClean="0">
            <a:solidFill>
              <a:srgbClr val="404957"/>
            </a:solidFill>
            <a:latin typeface="Pretendard Medium" panose="02000603000000020004" pitchFamily="50" charset="-127"/>
            <a:ea typeface="Pretendard Medium" panose="02000603000000020004" pitchFamily="50" charset="-127"/>
            <a:cs typeface="Pretendard Medium" panose="020006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18" id="{7C9F1673-0E4E-1349-AFAE-A5ACBCFCD0CA}" vid="{0B38E749-D71E-4441-BD0A-191D4503581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2972</Words>
  <Application>Microsoft Office PowerPoint</Application>
  <PresentationFormat>와이드스크린</PresentationFormat>
  <Paragraphs>668</Paragraphs>
  <Slides>18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3ds Condensed</vt:lpstr>
      <vt:lpstr>Pretendard</vt:lpstr>
      <vt:lpstr>Pretendard ExtraBold</vt:lpstr>
      <vt:lpstr>Pretendard Medium</vt:lpstr>
      <vt:lpstr>Pretendard SemiBold</vt:lpstr>
      <vt:lpstr>돋움</vt:lpstr>
      <vt:lpstr>맑은 고딕</vt:lpstr>
      <vt:lpstr>Arial</vt:lpstr>
      <vt:lpstr>Wingdings</vt:lpstr>
      <vt:lpstr>CORPORATE</vt:lpstr>
      <vt:lpstr>PowerPoint 프레젠테이션</vt:lpstr>
      <vt:lpstr>공지사항</vt:lpstr>
      <vt:lpstr>경영지원</vt:lpstr>
      <vt:lpstr>PowerPoint 프레젠테이션</vt:lpstr>
      <vt:lpstr>PROJECT : 대한전선 IoT</vt:lpstr>
      <vt:lpstr>PROJECT : HD 현대건설기계 RTLS 유지보수</vt:lpstr>
      <vt:lpstr>BC 업무현황</vt:lpstr>
      <vt:lpstr>PowerPoint 프레젠테이션</vt:lpstr>
      <vt:lpstr>PROJECT : TYM TPS 시스템 운영</vt:lpstr>
      <vt:lpstr>이슈 &amp; 대응 현황</vt:lpstr>
      <vt:lpstr>PROJECT : TYM 국책과제 (AI 자율제조)</vt:lpstr>
      <vt:lpstr>이슈 &amp; 대응 현황</vt:lpstr>
      <vt:lpstr>이슈 &amp; 대응 현황</vt:lpstr>
      <vt:lpstr>PROJECT : 세방전지 창원공장 연분공정 SCADA 구축 </vt:lpstr>
      <vt:lpstr>PowerPoint 프레젠테이션</vt:lpstr>
      <vt:lpstr>연구소</vt:lpstr>
      <vt:lpstr>연구소 (기술지원현황)</vt:lpstr>
      <vt:lpstr>홈페이지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Kim</dc:creator>
  <cp:lastModifiedBy>용환 신</cp:lastModifiedBy>
  <cp:revision>3</cp:revision>
  <dcterms:created xsi:type="dcterms:W3CDTF">2026-01-11T12:47:15Z</dcterms:created>
  <dcterms:modified xsi:type="dcterms:W3CDTF">2026-05-10T14:01:03Z</dcterms:modified>
</cp:coreProperties>
</file>