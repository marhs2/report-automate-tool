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89750" cy="100203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DC36D6C-034A-4D18-8D7E-8A29DFE528DA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4424"/>
    <a:srgbClr val="366D9C"/>
    <a:srgbClr val="FFCE3E"/>
    <a:srgbClr val="F1511B"/>
    <a:srgbClr val="FBBC09"/>
    <a:srgbClr val="00ADEF"/>
    <a:srgbClr val="80CC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81" autoAdjust="0"/>
    <p:restoredTop sz="95492" autoAdjust="0"/>
  </p:normalViewPr>
  <p:slideViewPr>
    <p:cSldViewPr snapToGrid="0" showGuides="1">
      <p:cViewPr varScale="1">
        <p:scale>
          <a:sx n="41" d="100"/>
          <a:sy n="41" d="100"/>
        </p:scale>
        <p:origin x="72" y="89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79714D-9CC7-4CA6-A51A-B3616A2DFA7A}" type="datetimeFigureOut">
              <a:rPr lang="en-US" smtClean="0"/>
              <a:t>5/11/2021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2825"/>
            <a:ext cx="5511800" cy="3944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865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075" y="951865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65972F-4F88-4161-8898-57E4F4C23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595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0281" y="274919"/>
            <a:ext cx="10825432" cy="1726409"/>
          </a:xfrm>
        </p:spPr>
        <p:txBody>
          <a:bodyPr anchor="ctr" anchorCtr="0">
            <a:normAutofit/>
          </a:bodyPr>
          <a:lstStyle>
            <a:lvl1pPr algn="l">
              <a:defRPr sz="6000" cap="none" baseline="0">
                <a:ln w="25400">
                  <a:solidFill>
                    <a:schemeClr val="accent1"/>
                  </a:solidFill>
                </a:ln>
                <a:solidFill>
                  <a:schemeClr val="bg1"/>
                </a:solidFill>
                <a:latin typeface="여기어때 잘난체" panose="020B0600000101010101" pitchFamily="50" charset="-127"/>
                <a:ea typeface="여기어때 잘난체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9428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6101C3-793A-433F-ADEC-940B8833B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98A3DC9-AC8F-49E0-83FE-789B273EB8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C41AAE-43F7-4371-99B9-34187B4A05A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22DF815-663B-45F9-83B5-A95D0FB1F6ED}" type="datetimeFigureOut">
              <a:rPr lang="ko-KR" altLang="en-US" smtClean="0"/>
              <a:t>2021-05-11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A4933FA-7FC9-467F-A70B-4FDA44997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29A5D-1BF6-41A0-8AAD-7EB86CBCA1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1951A8B-9CAA-43CE-9923-66C2CE1C04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1038" y="1665288"/>
            <a:ext cx="5287962" cy="456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00DDD5C9-88F5-41E5-8DDF-DD19922E97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23000" y="1665288"/>
            <a:ext cx="5287962" cy="456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F7261820-3645-4804-BDB2-9A85CD4BDB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1038" y="1198563"/>
            <a:ext cx="5287962" cy="328612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lvl="0"/>
            <a:r>
              <a:rPr lang="ko-KR" altLang="en-US" dirty="0"/>
              <a:t>구분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4" name="텍스트 개체 틀 12">
            <a:extLst>
              <a:ext uri="{FF2B5EF4-FFF2-40B4-BE49-F238E27FC236}">
                <a16:creationId xmlns:a16="http://schemas.microsoft.com/office/drawing/2014/main" id="{A05C45F0-4838-44FB-8295-DDB6A409F6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3000" y="1198563"/>
            <a:ext cx="5287962" cy="328612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lvl="0"/>
            <a:r>
              <a:rPr lang="ko-KR" altLang="en-US" dirty="0"/>
              <a:t>구분 </a:t>
            </a:r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080507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D5555D-A45F-4B8F-8556-169D5B964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C75CD41-99D3-45B5-B06A-1898DC18B5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AF394B-6454-40CD-BDDD-D509B185F27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22DF815-663B-45F9-83B5-A95D0FB1F6ED}" type="datetimeFigureOut">
              <a:rPr lang="ko-KR" altLang="en-US" smtClean="0"/>
              <a:t>2021-05-11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5040BA-590B-4029-8997-67B2F2800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29A5D-1BF6-41A0-8AAD-7EB86CBCA1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91652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975" y="170232"/>
            <a:ext cx="4869610" cy="599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477FF31B-E2B4-4A2C-9BA8-EABACAD349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7789" y="6638553"/>
            <a:ext cx="3566609" cy="2122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3EAE6DC7-B959-454A-A3F4-EAF876B3E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6D344EF7-5460-4523-B83C-216643A999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02" y="649049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2DF815-663B-45F9-83B5-A95D0FB1F6ED}" type="datetimeFigureOut">
              <a:rPr lang="ko-KR" altLang="en-US" smtClean="0"/>
              <a:t>2021-05-11</a:t>
            </a:fld>
            <a:endParaRPr lang="ko-KR" altLang="en-US"/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6AFAC862-732C-410C-A668-9154746C3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26331"/>
            <a:ext cx="2743200" cy="2122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29A5D-1BF6-41A0-8AAD-7EB86CBCA1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278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1" r:id="rId2"/>
    <p:sldLayoutId id="2147483753" r:id="rId3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400" kern="1200" cap="none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180975" indent="-180975" algn="l" defTabSz="914400" rtl="0" eaLnBrk="1" latinLnBrk="1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SzPct val="100000"/>
        <a:buFont typeface="Arial" panose="020B0604020202020204" pitchFamily="34" charset="0"/>
        <a:buChar char="-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SzPct val="100000"/>
        <a:buFont typeface="Arial" panose="020B0604020202020204" pitchFamily="34" charset="0"/>
        <a:buChar char="→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검은색 배경의 구렁이">
            <a:extLst>
              <a:ext uri="{FF2B5EF4-FFF2-40B4-BE49-F238E27FC236}">
                <a16:creationId xmlns:a16="http://schemas.microsoft.com/office/drawing/2014/main" id="{C13C9DA9-18BA-4373-BD45-01D73F501A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4" b="7864"/>
          <a:stretch/>
        </p:blipFill>
        <p:spPr>
          <a:xfrm>
            <a:off x="-5735" y="0"/>
            <a:ext cx="12197735" cy="6861226"/>
          </a:xfrm>
          <a:prstGeom prst="rect">
            <a:avLst/>
          </a:prstGeom>
        </p:spPr>
      </p:pic>
      <p:sp>
        <p:nvSpPr>
          <p:cNvPr id="5" name="직사각형 8">
            <a:extLst>
              <a:ext uri="{FF2B5EF4-FFF2-40B4-BE49-F238E27FC236}">
                <a16:creationId xmlns:a16="http://schemas.microsoft.com/office/drawing/2014/main" id="{407B349D-1C82-4404-BDA6-5C739342C399}"/>
              </a:ext>
            </a:extLst>
          </p:cNvPr>
          <p:cNvSpPr/>
          <p:nvPr/>
        </p:nvSpPr>
        <p:spPr>
          <a:xfrm>
            <a:off x="2465528" y="982946"/>
            <a:ext cx="157927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4000" b="1" cap="none" spc="0" dirty="0">
                <a:ln w="19050">
                  <a:solidFill>
                    <a:srgbClr val="FFCE3E"/>
                  </a:solidFill>
                  <a:prstDash val="solid"/>
                </a:ln>
                <a:solidFill>
                  <a:srgbClr val="366D9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monMonsori Black" panose="02000A03000000000000" pitchFamily="2" charset="-127"/>
                <a:ea typeface="TmonMonsori Black" panose="02000A03000000000000" pitchFamily="2" charset="-127"/>
              </a:rPr>
              <a:t>잔머리</a:t>
            </a:r>
            <a:endParaRPr lang="en-US" altLang="ko-KR" sz="4000" b="1" cap="none" spc="0" dirty="0">
              <a:ln w="19050">
                <a:solidFill>
                  <a:srgbClr val="FFCE3E"/>
                </a:solidFill>
                <a:prstDash val="solid"/>
              </a:ln>
              <a:solidFill>
                <a:srgbClr val="366D9C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TmonMonsori Black" panose="02000A03000000000000" pitchFamily="2" charset="-127"/>
              <a:ea typeface="TmonMonsori Black" panose="02000A03000000000000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2433AD6-1327-448E-B4D4-6C5DFEC8C0C1}"/>
              </a:ext>
            </a:extLst>
          </p:cNvPr>
          <p:cNvSpPr/>
          <p:nvPr/>
        </p:nvSpPr>
        <p:spPr>
          <a:xfrm>
            <a:off x="2124088" y="441980"/>
            <a:ext cx="226215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o-KR" altLang="en-US" sz="4000" b="1" cap="none" spc="0" dirty="0">
                <a:ln w="15875">
                  <a:solidFill>
                    <a:srgbClr val="366D9C"/>
                  </a:solidFill>
                  <a:prstDash val="solid"/>
                </a:ln>
                <a:solidFill>
                  <a:srgbClr val="FFCE3E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monMonsori Black" panose="02000A03000000000000" pitchFamily="2" charset="-127"/>
                <a:ea typeface="TmonMonsori Black" panose="02000A03000000000000" pitchFamily="2" charset="-127"/>
              </a:rPr>
              <a:t>업무의</a:t>
            </a:r>
            <a:endParaRPr lang="en-US" altLang="ko-KR" sz="4000" b="1" cap="none" spc="0" dirty="0">
              <a:ln w="15875">
                <a:solidFill>
                  <a:srgbClr val="366D9C"/>
                </a:solidFill>
                <a:prstDash val="solid"/>
              </a:ln>
              <a:solidFill>
                <a:srgbClr val="FFCE3E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TmonMonsori Black" panose="02000A03000000000000" pitchFamily="2" charset="-127"/>
              <a:ea typeface="TmonMonsori Black" panose="02000A03000000000000" pitchFamily="2" charset="-127"/>
            </a:endParaRPr>
          </a:p>
        </p:txBody>
      </p:sp>
      <p:pic>
        <p:nvPicPr>
          <p:cNvPr id="7" name="그래픽 26">
            <a:extLst>
              <a:ext uri="{FF2B5EF4-FFF2-40B4-BE49-F238E27FC236}">
                <a16:creationId xmlns:a16="http://schemas.microsoft.com/office/drawing/2014/main" id="{6D846621-E5EA-4606-9652-2EBF44D77A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31466" y="688889"/>
            <a:ext cx="648000" cy="64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72F790D-737F-4551-B31C-CA7259F7E9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2761" y="4763589"/>
            <a:ext cx="9560742" cy="2093446"/>
          </a:xfrm>
        </p:spPr>
        <p:txBody>
          <a:bodyPr>
            <a:noAutofit/>
          </a:bodyPr>
          <a:lstStyle/>
          <a:p>
            <a:pPr algn="ctr"/>
            <a:r>
              <a:rPr lang="en-US" altLang="ko-KR" sz="6600" dirty="0">
                <a:ln w="25400">
                  <a:solidFill>
                    <a:srgbClr val="D14424"/>
                  </a:solidFill>
                </a:ln>
                <a:solidFill>
                  <a:srgbClr val="FFCE3E"/>
                </a:solidFill>
                <a:latin typeface="TmonMonsori Black" panose="02000A03000000000000" pitchFamily="2" charset="-127"/>
                <a:ea typeface="TmonMonsori Black" panose="02000A03000000000000" pitchFamily="2" charset="-127"/>
              </a:rPr>
              <a:t>PPT</a:t>
            </a:r>
            <a:r>
              <a:rPr lang="ko-KR" altLang="en-US" sz="6600" dirty="0">
                <a:ln w="25400">
                  <a:solidFill>
                    <a:srgbClr val="366D9C"/>
                  </a:solidFill>
                </a:ln>
                <a:latin typeface="TmonMonsori Black" panose="02000A03000000000000" pitchFamily="2" charset="-127"/>
                <a:ea typeface="TmonMonsori Black" panose="02000A03000000000000" pitchFamily="2" charset="-127"/>
              </a:rPr>
              <a:t>를 삼킨 </a:t>
            </a:r>
            <a:r>
              <a:rPr lang="en-US" altLang="ko-KR" sz="6600" dirty="0">
                <a:ln w="25400">
                  <a:solidFill>
                    <a:srgbClr val="366D9C"/>
                  </a:solidFill>
                </a:ln>
                <a:solidFill>
                  <a:srgbClr val="FFCE3E"/>
                </a:solidFill>
                <a:latin typeface="TmonMonsori Black" panose="02000A03000000000000" pitchFamily="2" charset="-127"/>
                <a:ea typeface="TmonMonsori Black" panose="02000A03000000000000" pitchFamily="2" charset="-127"/>
              </a:rPr>
              <a:t>Python</a:t>
            </a:r>
            <a:endParaRPr lang="ko-KR" altLang="en-US" sz="6600" dirty="0">
              <a:ln w="25400">
                <a:solidFill>
                  <a:srgbClr val="0070C0"/>
                </a:solidFill>
              </a:ln>
              <a:solidFill>
                <a:srgbClr val="FFFF00"/>
              </a:solidFill>
              <a:latin typeface="TmonMonsori Black" panose="02000A03000000000000" pitchFamily="2" charset="-127"/>
              <a:ea typeface="TmonMonsori Black" panose="02000A03000000000000" pitchFamily="2" charset="-127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703617EE-E6B8-4310-A153-9696E726C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7203" y="4037884"/>
            <a:ext cx="781965" cy="781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owerpoint icon PNG, ICO or ICNS | Free vector icons">
            <a:extLst>
              <a:ext uri="{FF2B5EF4-FFF2-40B4-BE49-F238E27FC236}">
                <a16:creationId xmlns:a16="http://schemas.microsoft.com/office/drawing/2014/main" id="{6A95DE9F-DFA7-4197-B15E-A01BCE532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3670" y="3991303"/>
            <a:ext cx="875125" cy="87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6499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 descr="아프리카 덤불 살무사">
            <a:extLst>
              <a:ext uri="{FF2B5EF4-FFF2-40B4-BE49-F238E27FC236}">
                <a16:creationId xmlns:a16="http://schemas.microsoft.com/office/drawing/2014/main" id="{A7DBACFA-1ABB-4BD9-AE31-7F2D4CD4E9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2" b="780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직사각형 8">
            <a:extLst>
              <a:ext uri="{FF2B5EF4-FFF2-40B4-BE49-F238E27FC236}">
                <a16:creationId xmlns:a16="http://schemas.microsoft.com/office/drawing/2014/main" id="{407B349D-1C82-4404-BDA6-5C739342C399}"/>
              </a:ext>
            </a:extLst>
          </p:cNvPr>
          <p:cNvSpPr/>
          <p:nvPr/>
        </p:nvSpPr>
        <p:spPr>
          <a:xfrm>
            <a:off x="8570248" y="5908426"/>
            <a:ext cx="157927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4000" b="1" cap="none" spc="0" dirty="0">
                <a:ln w="19050">
                  <a:solidFill>
                    <a:srgbClr val="FFCE3E"/>
                  </a:solidFill>
                  <a:prstDash val="solid"/>
                </a:ln>
                <a:solidFill>
                  <a:srgbClr val="366D9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monMonsori Black" panose="02000A03000000000000" pitchFamily="2" charset="-127"/>
                <a:ea typeface="TmonMonsori Black" panose="02000A03000000000000" pitchFamily="2" charset="-127"/>
              </a:rPr>
              <a:t>잔머리</a:t>
            </a:r>
            <a:endParaRPr lang="en-US" altLang="ko-KR" sz="4000" b="1" cap="none" spc="0" dirty="0">
              <a:ln w="19050">
                <a:solidFill>
                  <a:srgbClr val="FFCE3E"/>
                </a:solidFill>
                <a:prstDash val="solid"/>
              </a:ln>
              <a:solidFill>
                <a:srgbClr val="366D9C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TmonMonsori Black" panose="02000A03000000000000" pitchFamily="2" charset="-127"/>
              <a:ea typeface="TmonMonsori Black" panose="02000A03000000000000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2433AD6-1327-448E-B4D4-6C5DFEC8C0C1}"/>
              </a:ext>
            </a:extLst>
          </p:cNvPr>
          <p:cNvSpPr/>
          <p:nvPr/>
        </p:nvSpPr>
        <p:spPr>
          <a:xfrm>
            <a:off x="8228808" y="5367460"/>
            <a:ext cx="226215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o-KR" altLang="en-US" sz="4000" b="1" cap="none" spc="0" dirty="0">
                <a:ln w="15875">
                  <a:solidFill>
                    <a:srgbClr val="366D9C"/>
                  </a:solidFill>
                  <a:prstDash val="solid"/>
                </a:ln>
                <a:solidFill>
                  <a:srgbClr val="FFCE3E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monMonsori Black" panose="02000A03000000000000" pitchFamily="2" charset="-127"/>
                <a:ea typeface="TmonMonsori Black" panose="02000A03000000000000" pitchFamily="2" charset="-127"/>
              </a:rPr>
              <a:t>업무의</a:t>
            </a:r>
            <a:endParaRPr lang="en-US" altLang="ko-KR" sz="4000" b="1" cap="none" spc="0" dirty="0">
              <a:ln w="15875">
                <a:solidFill>
                  <a:srgbClr val="366D9C"/>
                </a:solidFill>
                <a:prstDash val="solid"/>
              </a:ln>
              <a:solidFill>
                <a:srgbClr val="FFCE3E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TmonMonsori Black" panose="02000A03000000000000" pitchFamily="2" charset="-127"/>
              <a:ea typeface="TmonMonsori Black" panose="02000A03000000000000" pitchFamily="2" charset="-127"/>
            </a:endParaRPr>
          </a:p>
        </p:txBody>
      </p:sp>
      <p:pic>
        <p:nvPicPr>
          <p:cNvPr id="7" name="그래픽 26">
            <a:extLst>
              <a:ext uri="{FF2B5EF4-FFF2-40B4-BE49-F238E27FC236}">
                <a16:creationId xmlns:a16="http://schemas.microsoft.com/office/drawing/2014/main" id="{6D846621-E5EA-4606-9652-2EBF44D77A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36186" y="5614369"/>
            <a:ext cx="648000" cy="64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72F790D-737F-4551-B31C-CA7259F7E9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0" y="651942"/>
            <a:ext cx="9560742" cy="2461365"/>
          </a:xfrm>
        </p:spPr>
        <p:txBody>
          <a:bodyPr>
            <a:noAutofit/>
          </a:bodyPr>
          <a:lstStyle/>
          <a:p>
            <a:pPr algn="ctr"/>
            <a:r>
              <a:rPr lang="en-US" altLang="ko-KR" sz="6600" dirty="0">
                <a:ln w="25400">
                  <a:solidFill>
                    <a:srgbClr val="366D9C"/>
                  </a:solidFill>
                </a:ln>
                <a:solidFill>
                  <a:srgbClr val="FFCE3E"/>
                </a:solidFill>
                <a:latin typeface="TmonMonsori Black" panose="02000A03000000000000" pitchFamily="2" charset="-127"/>
                <a:ea typeface="TmonMonsori Black" panose="02000A03000000000000" pitchFamily="2" charset="-127"/>
              </a:rPr>
              <a:t>Python</a:t>
            </a:r>
            <a:r>
              <a:rPr lang="en-US" altLang="ko-KR" sz="6600" dirty="0">
                <a:ln w="25400">
                  <a:solidFill>
                    <a:srgbClr val="366D9C"/>
                  </a:solidFill>
                </a:ln>
                <a:solidFill>
                  <a:srgbClr val="FFFF00"/>
                </a:solidFill>
                <a:latin typeface="TmonMonsori Black" panose="02000A03000000000000" pitchFamily="2" charset="-127"/>
                <a:ea typeface="TmonMonsori Black" panose="02000A03000000000000" pitchFamily="2" charset="-127"/>
              </a:rPr>
              <a:t> </a:t>
            </a:r>
            <a:r>
              <a:rPr lang="ko-KR" altLang="en-US" sz="6600" dirty="0">
                <a:ln w="25400">
                  <a:solidFill>
                    <a:srgbClr val="366D9C"/>
                  </a:solidFill>
                </a:ln>
                <a:latin typeface="TmonMonsori Black" panose="02000A03000000000000" pitchFamily="2" charset="-127"/>
                <a:ea typeface="TmonMonsori Black" panose="02000A03000000000000" pitchFamily="2" charset="-127"/>
              </a:rPr>
              <a:t>시작하기</a:t>
            </a:r>
            <a:br>
              <a:rPr lang="en-US" altLang="ko-KR" sz="6600" dirty="0">
                <a:ln w="25400">
                  <a:solidFill>
                    <a:srgbClr val="0070C0"/>
                  </a:solidFill>
                </a:ln>
                <a:latin typeface="TmonMonsori Black" panose="02000A03000000000000" pitchFamily="2" charset="-127"/>
                <a:ea typeface="TmonMonsori Black" panose="02000A03000000000000" pitchFamily="2" charset="-127"/>
              </a:rPr>
            </a:br>
            <a:r>
              <a:rPr lang="en-US" altLang="ko-KR" sz="6600" dirty="0">
                <a:ln w="25400">
                  <a:solidFill>
                    <a:srgbClr val="0070C0"/>
                  </a:solidFill>
                </a:ln>
                <a:latin typeface="TmonMonsori Black" panose="02000A03000000000000" pitchFamily="2" charset="-127"/>
                <a:ea typeface="TmonMonsori Black" panose="02000A03000000000000" pitchFamily="2" charset="-127"/>
              </a:rPr>
              <a:t>(with </a:t>
            </a:r>
            <a:r>
              <a:rPr lang="en-US" altLang="ko-KR" sz="6600" dirty="0">
                <a:ln w="25400">
                  <a:solidFill>
                    <a:srgbClr val="0070C0"/>
                  </a:solidFill>
                </a:ln>
                <a:solidFill>
                  <a:srgbClr val="FFCE3E"/>
                </a:solidFill>
                <a:latin typeface="TmonMonsori Black" panose="02000A03000000000000" pitchFamily="2" charset="-127"/>
                <a:ea typeface="TmonMonsori Black" panose="02000A03000000000000" pitchFamily="2" charset="-127"/>
              </a:rPr>
              <a:t>PyCharm</a:t>
            </a:r>
            <a:r>
              <a:rPr lang="en-US" altLang="ko-KR" sz="6600" dirty="0">
                <a:ln w="25400">
                  <a:solidFill>
                    <a:srgbClr val="0070C0"/>
                  </a:solidFill>
                </a:ln>
                <a:latin typeface="TmonMonsori Black" panose="02000A03000000000000" pitchFamily="2" charset="-127"/>
                <a:ea typeface="TmonMonsori Black" panose="02000A03000000000000" pitchFamily="2" charset="-127"/>
              </a:rPr>
              <a:t>)</a:t>
            </a:r>
            <a:endParaRPr lang="ko-KR" altLang="en-US" sz="6600" dirty="0">
              <a:ln w="25400">
                <a:solidFill>
                  <a:srgbClr val="0070C0"/>
                </a:solidFill>
              </a:ln>
              <a:solidFill>
                <a:srgbClr val="FFFF00"/>
              </a:solidFill>
              <a:latin typeface="TmonMonsori Black" panose="02000A03000000000000" pitchFamily="2" charset="-127"/>
              <a:ea typeface="TmonMonsori Black" panose="02000A03000000000000" pitchFamily="2" charset="-127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703617EE-E6B8-4310-A153-9696E726C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4647" y="1011263"/>
            <a:ext cx="1494879" cy="1494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8291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잔디, 건초, 건조, 목재이(가) 표시된 사진&#10;&#10;자동 생성된 설명">
            <a:extLst>
              <a:ext uri="{FF2B5EF4-FFF2-40B4-BE49-F238E27FC236}">
                <a16:creationId xmlns:a16="http://schemas.microsoft.com/office/drawing/2014/main" id="{2D76EB8C-5957-4550-814C-5AA814301D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E2AD397-05CE-4913-AD27-C1A985931C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30000"/>
            </a:schemeClr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8">
            <a:extLst>
              <a:ext uri="{FF2B5EF4-FFF2-40B4-BE49-F238E27FC236}">
                <a16:creationId xmlns:a16="http://schemas.microsoft.com/office/drawing/2014/main" id="{407B349D-1C82-4404-BDA6-5C739342C399}"/>
              </a:ext>
            </a:extLst>
          </p:cNvPr>
          <p:cNvSpPr/>
          <p:nvPr/>
        </p:nvSpPr>
        <p:spPr>
          <a:xfrm>
            <a:off x="7934522" y="5612335"/>
            <a:ext cx="157927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4000" b="1" cap="none" spc="0" dirty="0">
                <a:ln w="19050">
                  <a:solidFill>
                    <a:srgbClr val="FFCE3E"/>
                  </a:solidFill>
                  <a:prstDash val="solid"/>
                </a:ln>
                <a:solidFill>
                  <a:srgbClr val="366D9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monMonsori Black" panose="02000A03000000000000" pitchFamily="2" charset="-127"/>
                <a:ea typeface="TmonMonsori Black" panose="02000A03000000000000" pitchFamily="2" charset="-127"/>
              </a:rPr>
              <a:t>잔머리</a:t>
            </a:r>
            <a:endParaRPr lang="en-US" altLang="ko-KR" sz="4000" b="1" cap="none" spc="0" dirty="0">
              <a:ln w="19050">
                <a:solidFill>
                  <a:srgbClr val="FFCE3E"/>
                </a:solidFill>
                <a:prstDash val="solid"/>
              </a:ln>
              <a:solidFill>
                <a:srgbClr val="366D9C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TmonMonsori Black" panose="02000A03000000000000" pitchFamily="2" charset="-127"/>
              <a:ea typeface="TmonMonsori Black" panose="02000A03000000000000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2433AD6-1327-448E-B4D4-6C5DFEC8C0C1}"/>
              </a:ext>
            </a:extLst>
          </p:cNvPr>
          <p:cNvSpPr/>
          <p:nvPr/>
        </p:nvSpPr>
        <p:spPr>
          <a:xfrm>
            <a:off x="7593082" y="5071369"/>
            <a:ext cx="226215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o-KR" altLang="en-US" sz="4000" b="1" cap="none" spc="0" dirty="0">
                <a:ln w="15875">
                  <a:solidFill>
                    <a:srgbClr val="366D9C"/>
                  </a:solidFill>
                  <a:prstDash val="solid"/>
                </a:ln>
                <a:solidFill>
                  <a:srgbClr val="FFCE3E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monMonsori Black" panose="02000A03000000000000" pitchFamily="2" charset="-127"/>
                <a:ea typeface="TmonMonsori Black" panose="02000A03000000000000" pitchFamily="2" charset="-127"/>
              </a:rPr>
              <a:t>업무의</a:t>
            </a:r>
            <a:endParaRPr lang="en-US" altLang="ko-KR" sz="4000" b="1" cap="none" spc="0" dirty="0">
              <a:ln w="15875">
                <a:solidFill>
                  <a:srgbClr val="366D9C"/>
                </a:solidFill>
                <a:prstDash val="solid"/>
              </a:ln>
              <a:solidFill>
                <a:srgbClr val="FFCE3E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TmonMonsori Black" panose="02000A03000000000000" pitchFamily="2" charset="-127"/>
              <a:ea typeface="TmonMonsori Black" panose="02000A03000000000000" pitchFamily="2" charset="-127"/>
            </a:endParaRPr>
          </a:p>
        </p:txBody>
      </p:sp>
      <p:pic>
        <p:nvPicPr>
          <p:cNvPr id="7" name="그래픽 26">
            <a:extLst>
              <a:ext uri="{FF2B5EF4-FFF2-40B4-BE49-F238E27FC236}">
                <a16:creationId xmlns:a16="http://schemas.microsoft.com/office/drawing/2014/main" id="{6D846621-E5EA-4606-9652-2EBF44D77A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00460" y="5318278"/>
            <a:ext cx="648000" cy="64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72F790D-737F-4551-B31C-CA7259F7E9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6233" y="98910"/>
            <a:ext cx="9560742" cy="2461365"/>
          </a:xfrm>
        </p:spPr>
        <p:txBody>
          <a:bodyPr>
            <a:noAutofit/>
          </a:bodyPr>
          <a:lstStyle/>
          <a:p>
            <a:pPr algn="ctr"/>
            <a:r>
              <a:rPr lang="ko-KR" altLang="en-US" sz="6600" dirty="0">
                <a:ln w="25400">
                  <a:solidFill>
                    <a:srgbClr val="185C37"/>
                  </a:solidFill>
                </a:ln>
                <a:solidFill>
                  <a:srgbClr val="FFFF00"/>
                </a:solidFill>
                <a:latin typeface="TmonMonsori Black" panose="02000A03000000000000" pitchFamily="2" charset="-127"/>
                <a:ea typeface="TmonMonsori Black" panose="02000A03000000000000" pitchFamily="2" charset="-127"/>
              </a:rPr>
              <a:t>엑셀</a:t>
            </a:r>
            <a:r>
              <a:rPr lang="ko-KR" altLang="en-US" sz="6600" dirty="0">
                <a:ln w="25400">
                  <a:solidFill>
                    <a:srgbClr val="366D9C"/>
                  </a:solidFill>
                </a:ln>
                <a:latin typeface="TmonMonsori Black" panose="02000A03000000000000" pitchFamily="2" charset="-127"/>
                <a:ea typeface="TmonMonsori Black" panose="02000A03000000000000" pitchFamily="2" charset="-127"/>
              </a:rPr>
              <a:t>을 삼킨 </a:t>
            </a:r>
            <a:r>
              <a:rPr lang="en-US" altLang="ko-KR" sz="6600" dirty="0">
                <a:ln w="25400">
                  <a:solidFill>
                    <a:srgbClr val="366D9C"/>
                  </a:solidFill>
                </a:ln>
                <a:solidFill>
                  <a:srgbClr val="FFCE3E"/>
                </a:solidFill>
                <a:latin typeface="TmonMonsori Black" panose="02000A03000000000000" pitchFamily="2" charset="-127"/>
                <a:ea typeface="TmonMonsori Black" panose="02000A03000000000000" pitchFamily="2" charset="-127"/>
              </a:rPr>
              <a:t>Python</a:t>
            </a:r>
            <a:br>
              <a:rPr lang="en-US" altLang="ko-KR" sz="6600" dirty="0">
                <a:ln w="25400">
                  <a:solidFill>
                    <a:srgbClr val="0070C0"/>
                  </a:solidFill>
                </a:ln>
                <a:latin typeface="TmonMonsori Black" panose="02000A03000000000000" pitchFamily="2" charset="-127"/>
                <a:ea typeface="TmonMonsori Black" panose="02000A03000000000000" pitchFamily="2" charset="-127"/>
              </a:rPr>
            </a:br>
            <a:r>
              <a:rPr lang="en-US" altLang="ko-KR" sz="6600" dirty="0">
                <a:ln w="25400">
                  <a:solidFill>
                    <a:srgbClr val="0070C0"/>
                  </a:solidFill>
                </a:ln>
                <a:latin typeface="TmonMonsori Black" panose="02000A03000000000000" pitchFamily="2" charset="-127"/>
                <a:ea typeface="TmonMonsori Black" panose="02000A03000000000000" pitchFamily="2" charset="-127"/>
              </a:rPr>
              <a:t>(</a:t>
            </a:r>
            <a:r>
              <a:rPr lang="en-US" altLang="ko-KR" sz="6600" dirty="0" err="1">
                <a:ln w="25400">
                  <a:solidFill>
                    <a:srgbClr val="0070C0"/>
                  </a:solidFill>
                </a:ln>
                <a:solidFill>
                  <a:srgbClr val="FFCE3E"/>
                </a:solidFill>
                <a:latin typeface="TmonMonsori Black" panose="02000A03000000000000" pitchFamily="2" charset="-127"/>
                <a:ea typeface="TmonMonsori Black" panose="02000A03000000000000" pitchFamily="2" charset="-127"/>
              </a:rPr>
              <a:t>openpyxl</a:t>
            </a:r>
            <a:r>
              <a:rPr lang="en-US" altLang="ko-KR" sz="6600" dirty="0">
                <a:ln w="25400">
                  <a:solidFill>
                    <a:srgbClr val="0070C0"/>
                  </a:solidFill>
                </a:ln>
                <a:latin typeface="TmonMonsori Black" panose="02000A03000000000000" pitchFamily="2" charset="-127"/>
                <a:ea typeface="TmonMonsori Black" panose="02000A03000000000000" pitchFamily="2" charset="-127"/>
              </a:rPr>
              <a:t>)</a:t>
            </a:r>
            <a:endParaRPr lang="ko-KR" altLang="en-US" sz="6600" dirty="0">
              <a:ln w="25400">
                <a:solidFill>
                  <a:srgbClr val="0070C0"/>
                </a:solidFill>
              </a:ln>
              <a:solidFill>
                <a:srgbClr val="FFFF00"/>
              </a:solidFill>
              <a:latin typeface="TmonMonsori Black" panose="02000A03000000000000" pitchFamily="2" charset="-127"/>
              <a:ea typeface="TmonMonsori Black" panose="02000A03000000000000" pitchFamily="2" charset="-127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703617EE-E6B8-4310-A153-9696E726C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2096" y="1078745"/>
            <a:ext cx="1494879" cy="1494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Microsoft Excel - 나무위키">
            <a:extLst>
              <a:ext uri="{FF2B5EF4-FFF2-40B4-BE49-F238E27FC236}">
                <a16:creationId xmlns:a16="http://schemas.microsoft.com/office/drawing/2014/main" id="{041867FC-D700-470B-B9B4-8A81AF1D4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9747" y="2647035"/>
            <a:ext cx="760688" cy="760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2951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열대우림에서 사냥하는 변색 덤불 독사">
            <a:extLst>
              <a:ext uri="{FF2B5EF4-FFF2-40B4-BE49-F238E27FC236}">
                <a16:creationId xmlns:a16="http://schemas.microsoft.com/office/drawing/2014/main" id="{93E579B6-DD17-4B88-B2BC-A71A26FE46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2" b="780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직사각형 8">
            <a:extLst>
              <a:ext uri="{FF2B5EF4-FFF2-40B4-BE49-F238E27FC236}">
                <a16:creationId xmlns:a16="http://schemas.microsoft.com/office/drawing/2014/main" id="{407B349D-1C82-4404-BDA6-5C739342C399}"/>
              </a:ext>
            </a:extLst>
          </p:cNvPr>
          <p:cNvSpPr/>
          <p:nvPr/>
        </p:nvSpPr>
        <p:spPr>
          <a:xfrm>
            <a:off x="8177642" y="5185615"/>
            <a:ext cx="157927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4000" b="1" cap="none" spc="0" dirty="0">
                <a:ln w="19050">
                  <a:solidFill>
                    <a:srgbClr val="FFCE3E"/>
                  </a:solidFill>
                  <a:prstDash val="solid"/>
                </a:ln>
                <a:solidFill>
                  <a:srgbClr val="366D9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monMonsori Black" panose="02000A03000000000000" pitchFamily="2" charset="-127"/>
                <a:ea typeface="TmonMonsori Black" panose="02000A03000000000000" pitchFamily="2" charset="-127"/>
              </a:rPr>
              <a:t>잔머리</a:t>
            </a:r>
            <a:endParaRPr lang="en-US" altLang="ko-KR" sz="4000" b="1" cap="none" spc="0" dirty="0">
              <a:ln w="19050">
                <a:solidFill>
                  <a:srgbClr val="FFCE3E"/>
                </a:solidFill>
                <a:prstDash val="solid"/>
              </a:ln>
              <a:solidFill>
                <a:srgbClr val="366D9C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TmonMonsori Black" panose="02000A03000000000000" pitchFamily="2" charset="-127"/>
              <a:ea typeface="TmonMonsori Black" panose="02000A03000000000000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2433AD6-1327-448E-B4D4-6C5DFEC8C0C1}"/>
              </a:ext>
            </a:extLst>
          </p:cNvPr>
          <p:cNvSpPr/>
          <p:nvPr/>
        </p:nvSpPr>
        <p:spPr>
          <a:xfrm>
            <a:off x="7836202" y="4644649"/>
            <a:ext cx="226215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o-KR" altLang="en-US" sz="4000" b="1" cap="none" spc="0" dirty="0">
                <a:ln w="15875">
                  <a:solidFill>
                    <a:srgbClr val="366D9C"/>
                  </a:solidFill>
                  <a:prstDash val="solid"/>
                </a:ln>
                <a:solidFill>
                  <a:srgbClr val="FFCE3E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monMonsori Black" panose="02000A03000000000000" pitchFamily="2" charset="-127"/>
                <a:ea typeface="TmonMonsori Black" panose="02000A03000000000000" pitchFamily="2" charset="-127"/>
              </a:rPr>
              <a:t>업무의</a:t>
            </a:r>
            <a:endParaRPr lang="en-US" altLang="ko-KR" sz="4000" b="1" cap="none" spc="0" dirty="0">
              <a:ln w="15875">
                <a:solidFill>
                  <a:srgbClr val="366D9C"/>
                </a:solidFill>
                <a:prstDash val="solid"/>
              </a:ln>
              <a:solidFill>
                <a:srgbClr val="FFCE3E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TmonMonsori Black" panose="02000A03000000000000" pitchFamily="2" charset="-127"/>
              <a:ea typeface="TmonMonsori Black" panose="02000A03000000000000" pitchFamily="2" charset="-127"/>
            </a:endParaRPr>
          </a:p>
        </p:txBody>
      </p:sp>
      <p:pic>
        <p:nvPicPr>
          <p:cNvPr id="7" name="그래픽 26">
            <a:extLst>
              <a:ext uri="{FF2B5EF4-FFF2-40B4-BE49-F238E27FC236}">
                <a16:creationId xmlns:a16="http://schemas.microsoft.com/office/drawing/2014/main" id="{6D846621-E5EA-4606-9652-2EBF44D77A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43580" y="4891558"/>
            <a:ext cx="648000" cy="64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72F790D-737F-4551-B31C-CA7259F7E9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6233" y="98910"/>
            <a:ext cx="9560742" cy="2461365"/>
          </a:xfrm>
        </p:spPr>
        <p:txBody>
          <a:bodyPr>
            <a:noAutofit/>
          </a:bodyPr>
          <a:lstStyle/>
          <a:p>
            <a:pPr algn="ctr"/>
            <a:r>
              <a:rPr lang="en-US" altLang="ko-KR" sz="6600" dirty="0">
                <a:ln w="25400">
                  <a:solidFill>
                    <a:srgbClr val="366D9C"/>
                  </a:solidFill>
                </a:ln>
                <a:solidFill>
                  <a:srgbClr val="FFCE3E"/>
                </a:solidFill>
                <a:latin typeface="TmonMonsori Black" panose="02000A03000000000000" pitchFamily="2" charset="-127"/>
                <a:ea typeface="TmonMonsori Black" panose="02000A03000000000000" pitchFamily="2" charset="-127"/>
              </a:rPr>
              <a:t>Web</a:t>
            </a:r>
            <a:r>
              <a:rPr lang="ko-KR" altLang="en-US" sz="6600" dirty="0">
                <a:ln w="25400">
                  <a:solidFill>
                    <a:srgbClr val="366D9C"/>
                  </a:solidFill>
                </a:ln>
                <a:latin typeface="TmonMonsori Black" panose="02000A03000000000000" pitchFamily="2" charset="-127"/>
                <a:ea typeface="TmonMonsori Black" panose="02000A03000000000000" pitchFamily="2" charset="-127"/>
              </a:rPr>
              <a:t>을 삼킨 </a:t>
            </a:r>
            <a:r>
              <a:rPr lang="en-US" altLang="ko-KR" sz="6600" dirty="0">
                <a:ln w="25400">
                  <a:solidFill>
                    <a:srgbClr val="366D9C"/>
                  </a:solidFill>
                </a:ln>
                <a:solidFill>
                  <a:srgbClr val="FFCE3E"/>
                </a:solidFill>
                <a:latin typeface="TmonMonsori Black" panose="02000A03000000000000" pitchFamily="2" charset="-127"/>
                <a:ea typeface="TmonMonsori Black" panose="02000A03000000000000" pitchFamily="2" charset="-127"/>
              </a:rPr>
              <a:t>Python</a:t>
            </a:r>
            <a:br>
              <a:rPr lang="en-US" altLang="ko-KR" sz="6600" dirty="0">
                <a:ln w="25400">
                  <a:solidFill>
                    <a:srgbClr val="0070C0"/>
                  </a:solidFill>
                </a:ln>
                <a:latin typeface="TmonMonsori Black" panose="02000A03000000000000" pitchFamily="2" charset="-127"/>
                <a:ea typeface="TmonMonsori Black" panose="02000A03000000000000" pitchFamily="2" charset="-127"/>
              </a:rPr>
            </a:br>
            <a:r>
              <a:rPr lang="en-US" altLang="ko-KR" sz="6600" dirty="0">
                <a:ln w="25400">
                  <a:solidFill>
                    <a:srgbClr val="0070C0"/>
                  </a:solidFill>
                </a:ln>
                <a:latin typeface="TmonMonsori Black" panose="02000A03000000000000" pitchFamily="2" charset="-127"/>
                <a:ea typeface="TmonMonsori Black" panose="02000A03000000000000" pitchFamily="2" charset="-127"/>
              </a:rPr>
              <a:t>(</a:t>
            </a:r>
            <a:r>
              <a:rPr lang="en-US" altLang="ko-KR" sz="6600" dirty="0">
                <a:ln w="25400">
                  <a:solidFill>
                    <a:srgbClr val="0070C0"/>
                  </a:solidFill>
                </a:ln>
                <a:solidFill>
                  <a:srgbClr val="FFCE3E"/>
                </a:solidFill>
                <a:latin typeface="TmonMonsori Black" panose="02000A03000000000000" pitchFamily="2" charset="-127"/>
                <a:ea typeface="TmonMonsori Black" panose="02000A03000000000000" pitchFamily="2" charset="-127"/>
              </a:rPr>
              <a:t>selenium</a:t>
            </a:r>
            <a:r>
              <a:rPr lang="en-US" altLang="ko-KR" sz="6600" dirty="0">
                <a:ln w="25400">
                  <a:solidFill>
                    <a:srgbClr val="0070C0"/>
                  </a:solidFill>
                </a:ln>
                <a:latin typeface="TmonMonsori Black" panose="02000A03000000000000" pitchFamily="2" charset="-127"/>
                <a:ea typeface="TmonMonsori Black" panose="02000A03000000000000" pitchFamily="2" charset="-127"/>
              </a:rPr>
              <a:t>)</a:t>
            </a:r>
            <a:endParaRPr lang="ko-KR" altLang="en-US" sz="6600" dirty="0">
              <a:ln w="25400">
                <a:solidFill>
                  <a:srgbClr val="0070C0"/>
                </a:solidFill>
              </a:ln>
              <a:solidFill>
                <a:srgbClr val="FFFF00"/>
              </a:solidFill>
              <a:latin typeface="TmonMonsori Black" panose="02000A03000000000000" pitchFamily="2" charset="-127"/>
              <a:ea typeface="TmonMonsori Black" panose="02000A03000000000000" pitchFamily="2" charset="-127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703617EE-E6B8-4310-A153-9696E726C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610" y="1201588"/>
            <a:ext cx="1494879" cy="1494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8586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아프리카 덤불 살무사">
            <a:extLst>
              <a:ext uri="{FF2B5EF4-FFF2-40B4-BE49-F238E27FC236}">
                <a16:creationId xmlns:a16="http://schemas.microsoft.com/office/drawing/2014/main" id="{6247DEC3-8A2B-44A9-B4C7-9BDB3F8173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71" b="777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직사각형 8">
            <a:extLst>
              <a:ext uri="{FF2B5EF4-FFF2-40B4-BE49-F238E27FC236}">
                <a16:creationId xmlns:a16="http://schemas.microsoft.com/office/drawing/2014/main" id="{407B349D-1C82-4404-BDA6-5C739342C399}"/>
              </a:ext>
            </a:extLst>
          </p:cNvPr>
          <p:cNvSpPr/>
          <p:nvPr/>
        </p:nvSpPr>
        <p:spPr>
          <a:xfrm>
            <a:off x="7811882" y="5856563"/>
            <a:ext cx="157927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4000" b="1" cap="none" spc="0" dirty="0">
                <a:ln w="19050">
                  <a:solidFill>
                    <a:srgbClr val="FFCE3E"/>
                  </a:solidFill>
                  <a:prstDash val="solid"/>
                </a:ln>
                <a:solidFill>
                  <a:srgbClr val="366D9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monMonsori Black" panose="02000A03000000000000" pitchFamily="2" charset="-127"/>
                <a:ea typeface="TmonMonsori Black" panose="02000A03000000000000" pitchFamily="2" charset="-127"/>
              </a:rPr>
              <a:t>잔머리</a:t>
            </a:r>
            <a:endParaRPr lang="en-US" altLang="ko-KR" sz="4000" b="1" cap="none" spc="0" dirty="0">
              <a:ln w="19050">
                <a:solidFill>
                  <a:srgbClr val="FFCE3E"/>
                </a:solidFill>
                <a:prstDash val="solid"/>
              </a:ln>
              <a:solidFill>
                <a:srgbClr val="366D9C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TmonMonsori Black" panose="02000A03000000000000" pitchFamily="2" charset="-127"/>
              <a:ea typeface="TmonMonsori Black" panose="02000A03000000000000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2433AD6-1327-448E-B4D4-6C5DFEC8C0C1}"/>
              </a:ext>
            </a:extLst>
          </p:cNvPr>
          <p:cNvSpPr/>
          <p:nvPr/>
        </p:nvSpPr>
        <p:spPr>
          <a:xfrm>
            <a:off x="7470442" y="5315597"/>
            <a:ext cx="226215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o-KR" altLang="en-US" sz="4000" b="1" cap="none" spc="0" dirty="0">
                <a:ln w="15875">
                  <a:solidFill>
                    <a:srgbClr val="366D9C"/>
                  </a:solidFill>
                  <a:prstDash val="solid"/>
                </a:ln>
                <a:solidFill>
                  <a:srgbClr val="FFCE3E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monMonsori Black" panose="02000A03000000000000" pitchFamily="2" charset="-127"/>
                <a:ea typeface="TmonMonsori Black" panose="02000A03000000000000" pitchFamily="2" charset="-127"/>
              </a:rPr>
              <a:t>업무의</a:t>
            </a:r>
            <a:endParaRPr lang="en-US" altLang="ko-KR" sz="4000" b="1" cap="none" spc="0" dirty="0">
              <a:ln w="15875">
                <a:solidFill>
                  <a:srgbClr val="366D9C"/>
                </a:solidFill>
                <a:prstDash val="solid"/>
              </a:ln>
              <a:solidFill>
                <a:srgbClr val="FFCE3E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TmonMonsori Black" panose="02000A03000000000000" pitchFamily="2" charset="-127"/>
              <a:ea typeface="TmonMonsori Black" panose="02000A03000000000000" pitchFamily="2" charset="-127"/>
            </a:endParaRPr>
          </a:p>
        </p:txBody>
      </p:sp>
      <p:pic>
        <p:nvPicPr>
          <p:cNvPr id="7" name="그래픽 26">
            <a:extLst>
              <a:ext uri="{FF2B5EF4-FFF2-40B4-BE49-F238E27FC236}">
                <a16:creationId xmlns:a16="http://schemas.microsoft.com/office/drawing/2014/main" id="{6D846621-E5EA-4606-9652-2EBF44D77A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77820" y="5562506"/>
            <a:ext cx="648000" cy="64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72F790D-737F-4551-B31C-CA7259F7E9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5629" y="2942953"/>
            <a:ext cx="9560742" cy="2461365"/>
          </a:xfrm>
        </p:spPr>
        <p:txBody>
          <a:bodyPr>
            <a:noAutofit/>
          </a:bodyPr>
          <a:lstStyle/>
          <a:p>
            <a:pPr algn="ctr"/>
            <a:r>
              <a:rPr lang="en-US" altLang="ko-KR" sz="6600" dirty="0">
                <a:ln w="25400">
                  <a:solidFill>
                    <a:srgbClr val="366D9C"/>
                  </a:solidFill>
                </a:ln>
                <a:solidFill>
                  <a:srgbClr val="FFCE3E"/>
                </a:solidFill>
                <a:latin typeface="TmonMonsori Black" panose="02000A03000000000000" pitchFamily="2" charset="-127"/>
                <a:ea typeface="TmonMonsori Black" panose="02000A03000000000000" pitchFamily="2" charset="-127"/>
              </a:rPr>
              <a:t>Web</a:t>
            </a:r>
            <a:r>
              <a:rPr lang="ko-KR" altLang="en-US" sz="6600" dirty="0">
                <a:ln w="25400">
                  <a:solidFill>
                    <a:srgbClr val="366D9C"/>
                  </a:solidFill>
                </a:ln>
                <a:latin typeface="TmonMonsori Black" panose="02000A03000000000000" pitchFamily="2" charset="-127"/>
                <a:ea typeface="TmonMonsori Black" panose="02000A03000000000000" pitchFamily="2" charset="-127"/>
              </a:rPr>
              <a:t>을 삼킨 </a:t>
            </a:r>
            <a:r>
              <a:rPr lang="en-US" altLang="ko-KR" sz="6600" dirty="0">
                <a:ln w="25400">
                  <a:solidFill>
                    <a:srgbClr val="366D9C"/>
                  </a:solidFill>
                </a:ln>
                <a:solidFill>
                  <a:srgbClr val="FFCE3E"/>
                </a:solidFill>
                <a:latin typeface="TmonMonsori Black" panose="02000A03000000000000" pitchFamily="2" charset="-127"/>
                <a:ea typeface="TmonMonsori Black" panose="02000A03000000000000" pitchFamily="2" charset="-127"/>
              </a:rPr>
              <a:t>Python 2</a:t>
            </a:r>
            <a:br>
              <a:rPr lang="en-US" altLang="ko-KR" sz="6600" dirty="0">
                <a:ln w="25400">
                  <a:solidFill>
                    <a:srgbClr val="0070C0"/>
                  </a:solidFill>
                </a:ln>
                <a:latin typeface="TmonMonsori Black" panose="02000A03000000000000" pitchFamily="2" charset="-127"/>
                <a:ea typeface="TmonMonsori Black" panose="02000A03000000000000" pitchFamily="2" charset="-127"/>
              </a:rPr>
            </a:br>
            <a:r>
              <a:rPr lang="en-US" altLang="ko-KR" sz="6600" dirty="0">
                <a:ln w="25400">
                  <a:solidFill>
                    <a:srgbClr val="0070C0"/>
                  </a:solidFill>
                </a:ln>
                <a:latin typeface="TmonMonsori Black" panose="02000A03000000000000" pitchFamily="2" charset="-127"/>
                <a:ea typeface="TmonMonsori Black" panose="02000A03000000000000" pitchFamily="2" charset="-127"/>
              </a:rPr>
              <a:t>(</a:t>
            </a:r>
            <a:r>
              <a:rPr lang="en-US" altLang="ko-KR" sz="6600" dirty="0">
                <a:ln w="25400">
                  <a:solidFill>
                    <a:srgbClr val="0070C0"/>
                  </a:solidFill>
                </a:ln>
                <a:solidFill>
                  <a:srgbClr val="FFCE3E"/>
                </a:solidFill>
                <a:latin typeface="TmonMonsori Black" panose="02000A03000000000000" pitchFamily="2" charset="-127"/>
                <a:ea typeface="TmonMonsori Black" panose="02000A03000000000000" pitchFamily="2" charset="-127"/>
              </a:rPr>
              <a:t>Beautifulsoup4</a:t>
            </a:r>
            <a:r>
              <a:rPr lang="en-US" altLang="ko-KR" sz="6600" dirty="0">
                <a:ln w="25400">
                  <a:solidFill>
                    <a:srgbClr val="0070C0"/>
                  </a:solidFill>
                </a:ln>
                <a:latin typeface="TmonMonsori Black" panose="02000A03000000000000" pitchFamily="2" charset="-127"/>
                <a:ea typeface="TmonMonsori Black" panose="02000A03000000000000" pitchFamily="2" charset="-127"/>
              </a:rPr>
              <a:t>)</a:t>
            </a:r>
            <a:endParaRPr lang="ko-KR" altLang="en-US" sz="6600" dirty="0">
              <a:ln w="25400">
                <a:solidFill>
                  <a:srgbClr val="0070C0"/>
                </a:solidFill>
              </a:ln>
              <a:solidFill>
                <a:srgbClr val="FFFF00"/>
              </a:solidFill>
              <a:latin typeface="TmonMonsori Black" panose="02000A03000000000000" pitchFamily="2" charset="-127"/>
              <a:ea typeface="TmonMonsori Black" panose="02000A03000000000000" pitchFamily="2" charset="-127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703617EE-E6B8-4310-A153-9696E726C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180" y="5330353"/>
            <a:ext cx="1224820" cy="122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1092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나뭇가지에 있는 녹색 뱀">
            <a:extLst>
              <a:ext uri="{FF2B5EF4-FFF2-40B4-BE49-F238E27FC236}">
                <a16:creationId xmlns:a16="http://schemas.microsoft.com/office/drawing/2014/main" id="{520F29DD-D20A-4D61-A617-4C952933B4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5" name="직사각형 8">
            <a:extLst>
              <a:ext uri="{FF2B5EF4-FFF2-40B4-BE49-F238E27FC236}">
                <a16:creationId xmlns:a16="http://schemas.microsoft.com/office/drawing/2014/main" id="{407B349D-1C82-4404-BDA6-5C739342C399}"/>
              </a:ext>
            </a:extLst>
          </p:cNvPr>
          <p:cNvSpPr/>
          <p:nvPr/>
        </p:nvSpPr>
        <p:spPr>
          <a:xfrm>
            <a:off x="7290088" y="1078745"/>
            <a:ext cx="157927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4000" b="1" cap="none" spc="0" dirty="0">
                <a:ln w="19050">
                  <a:solidFill>
                    <a:srgbClr val="FFCE3E"/>
                  </a:solidFill>
                  <a:prstDash val="solid"/>
                </a:ln>
                <a:solidFill>
                  <a:srgbClr val="366D9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monMonsori Black" panose="02000A03000000000000" pitchFamily="2" charset="-127"/>
                <a:ea typeface="TmonMonsori Black" panose="02000A03000000000000" pitchFamily="2" charset="-127"/>
              </a:rPr>
              <a:t>잔머리</a:t>
            </a:r>
            <a:endParaRPr lang="en-US" altLang="ko-KR" sz="4000" b="1" cap="none" spc="0" dirty="0">
              <a:ln w="19050">
                <a:solidFill>
                  <a:srgbClr val="FFCE3E"/>
                </a:solidFill>
                <a:prstDash val="solid"/>
              </a:ln>
              <a:solidFill>
                <a:srgbClr val="366D9C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TmonMonsori Black" panose="02000A03000000000000" pitchFamily="2" charset="-127"/>
              <a:ea typeface="TmonMonsori Black" panose="02000A03000000000000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2433AD6-1327-448E-B4D4-6C5DFEC8C0C1}"/>
              </a:ext>
            </a:extLst>
          </p:cNvPr>
          <p:cNvSpPr/>
          <p:nvPr/>
        </p:nvSpPr>
        <p:spPr>
          <a:xfrm>
            <a:off x="6948648" y="537779"/>
            <a:ext cx="226215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o-KR" altLang="en-US" sz="4000" b="1" cap="none" spc="0" dirty="0">
                <a:ln w="15875">
                  <a:solidFill>
                    <a:srgbClr val="366D9C"/>
                  </a:solidFill>
                  <a:prstDash val="solid"/>
                </a:ln>
                <a:solidFill>
                  <a:srgbClr val="FFCE3E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monMonsori Black" panose="02000A03000000000000" pitchFamily="2" charset="-127"/>
                <a:ea typeface="TmonMonsori Black" panose="02000A03000000000000" pitchFamily="2" charset="-127"/>
              </a:rPr>
              <a:t>업무의</a:t>
            </a:r>
            <a:endParaRPr lang="en-US" altLang="ko-KR" sz="4000" b="1" cap="none" spc="0" dirty="0">
              <a:ln w="15875">
                <a:solidFill>
                  <a:srgbClr val="366D9C"/>
                </a:solidFill>
                <a:prstDash val="solid"/>
              </a:ln>
              <a:solidFill>
                <a:srgbClr val="FFCE3E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TmonMonsori Black" panose="02000A03000000000000" pitchFamily="2" charset="-127"/>
              <a:ea typeface="TmonMonsori Black" panose="02000A03000000000000" pitchFamily="2" charset="-127"/>
            </a:endParaRPr>
          </a:p>
        </p:txBody>
      </p:sp>
      <p:pic>
        <p:nvPicPr>
          <p:cNvPr id="7" name="그래픽 26">
            <a:extLst>
              <a:ext uri="{FF2B5EF4-FFF2-40B4-BE49-F238E27FC236}">
                <a16:creationId xmlns:a16="http://schemas.microsoft.com/office/drawing/2014/main" id="{6D846621-E5EA-4606-9652-2EBF44D77A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56026" y="784688"/>
            <a:ext cx="648000" cy="64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72F790D-737F-4551-B31C-CA7259F7E9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5629" y="3873148"/>
            <a:ext cx="9560742" cy="2461365"/>
          </a:xfrm>
        </p:spPr>
        <p:txBody>
          <a:bodyPr>
            <a:noAutofit/>
          </a:bodyPr>
          <a:lstStyle/>
          <a:p>
            <a:pPr algn="ctr"/>
            <a:r>
              <a:rPr lang="en-US" altLang="ko-KR" sz="6600" dirty="0">
                <a:ln w="25400">
                  <a:solidFill>
                    <a:srgbClr val="366D9C"/>
                  </a:solidFill>
                </a:ln>
                <a:solidFill>
                  <a:srgbClr val="FFCE3E"/>
                </a:solidFill>
                <a:latin typeface="TmonMonsori Black" panose="02000A03000000000000" pitchFamily="2" charset="-127"/>
                <a:ea typeface="TmonMonsori Black" panose="02000A03000000000000" pitchFamily="2" charset="-127"/>
              </a:rPr>
              <a:t>Python </a:t>
            </a:r>
            <a:r>
              <a:rPr lang="ko-KR" altLang="en-US" sz="6600" dirty="0">
                <a:ln w="25400">
                  <a:solidFill>
                    <a:srgbClr val="366D9C"/>
                  </a:solidFill>
                </a:ln>
                <a:latin typeface="TmonMonsori Black" panose="02000A03000000000000" pitchFamily="2" charset="-127"/>
                <a:ea typeface="TmonMonsori Black" panose="02000A03000000000000" pitchFamily="2" charset="-127"/>
              </a:rPr>
              <a:t>으로</a:t>
            </a:r>
            <a:r>
              <a:rPr lang="en-US" altLang="ko-KR" sz="6600" dirty="0">
                <a:ln w="25400">
                  <a:solidFill>
                    <a:srgbClr val="366D9C"/>
                  </a:solidFill>
                </a:ln>
                <a:latin typeface="TmonMonsori Black" panose="02000A03000000000000" pitchFamily="2" charset="-127"/>
                <a:ea typeface="TmonMonsori Black" panose="02000A03000000000000" pitchFamily="2" charset="-127"/>
              </a:rPr>
              <a:t> </a:t>
            </a:r>
            <a:r>
              <a:rPr lang="ko-KR" altLang="en-US" sz="6600" dirty="0">
                <a:ln w="25400">
                  <a:solidFill>
                    <a:srgbClr val="366D9C"/>
                  </a:solidFill>
                </a:ln>
                <a:latin typeface="TmonMonsori Black" panose="02000A03000000000000" pitchFamily="2" charset="-127"/>
                <a:ea typeface="TmonMonsori Black" panose="02000A03000000000000" pitchFamily="2" charset="-127"/>
              </a:rPr>
              <a:t>보는 </a:t>
            </a:r>
            <a:br>
              <a:rPr lang="en-US" altLang="ko-KR" sz="6600" dirty="0">
                <a:ln w="25400">
                  <a:solidFill>
                    <a:srgbClr val="366D9C"/>
                  </a:solidFill>
                </a:ln>
                <a:latin typeface="TmonMonsori Black" panose="02000A03000000000000" pitchFamily="2" charset="-127"/>
                <a:ea typeface="TmonMonsori Black" panose="02000A03000000000000" pitchFamily="2" charset="-127"/>
              </a:rPr>
            </a:br>
            <a:r>
              <a:rPr lang="ko-KR" altLang="en-US" sz="6600" dirty="0">
                <a:ln w="25400">
                  <a:solidFill>
                    <a:srgbClr val="366D9C"/>
                  </a:solidFill>
                </a:ln>
                <a:latin typeface="TmonMonsori Black" panose="02000A03000000000000" pitchFamily="2" charset="-127"/>
                <a:ea typeface="TmonMonsori Black" panose="02000A03000000000000" pitchFamily="2" charset="-127"/>
              </a:rPr>
              <a:t>고급 </a:t>
            </a:r>
            <a:r>
              <a:rPr lang="ko-KR" altLang="en-US" sz="6600" dirty="0">
                <a:ln w="25400">
                  <a:solidFill>
                    <a:srgbClr val="185C37"/>
                  </a:solidFill>
                </a:ln>
                <a:solidFill>
                  <a:srgbClr val="FFFF00"/>
                </a:solidFill>
                <a:latin typeface="TmonMonsori Black" panose="02000A03000000000000" pitchFamily="2" charset="-127"/>
                <a:ea typeface="TmonMonsori Black" panose="02000A03000000000000" pitchFamily="2" charset="-127"/>
              </a:rPr>
              <a:t>엑셀</a:t>
            </a:r>
            <a:endParaRPr lang="ko-KR" altLang="en-US" sz="6600" dirty="0">
              <a:ln w="25400">
                <a:solidFill>
                  <a:srgbClr val="0070C0"/>
                </a:solidFill>
              </a:ln>
              <a:solidFill>
                <a:srgbClr val="FFFF00"/>
              </a:solidFill>
              <a:latin typeface="TmonMonsori Black" panose="02000A03000000000000" pitchFamily="2" charset="-127"/>
              <a:ea typeface="TmonMonsori Black" panose="02000A03000000000000" pitchFamily="2" charset="-127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703617EE-E6B8-4310-A153-9696E726C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2257" y="1395648"/>
            <a:ext cx="781965" cy="781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Microsoft Excel - 나무위키">
            <a:extLst>
              <a:ext uri="{FF2B5EF4-FFF2-40B4-BE49-F238E27FC236}">
                <a16:creationId xmlns:a16="http://schemas.microsoft.com/office/drawing/2014/main" id="{041867FC-D700-470B-B9B4-8A81AF1D4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1569" y="611425"/>
            <a:ext cx="760688" cy="760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02637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업무의 잔머리v4">
  <a:themeElements>
    <a:clrScheme name="주요 이벤트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나눔바른고딕 n Arial">
      <a:majorFont>
        <a:latin typeface="Arial"/>
        <a:ea typeface="나눔바른고딕"/>
        <a:cs typeface=""/>
      </a:majorFont>
      <a:minorFont>
        <a:latin typeface="Arial"/>
        <a:ea typeface="나눔바른고딕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>
    <a:spDef>
      <a:spPr>
        <a:noFill/>
        <a:ln w="34925">
          <a:solidFill>
            <a:schemeClr val="accent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업무의 잔머리v4" id="{3D74C943-57C5-41B9-88F8-06752A496681}" vid="{F3576BED-BE3F-4DD4-B378-BA7D23C6C4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1130</TotalTime>
  <Words>53</Words>
  <Application>Microsoft Office PowerPoint</Application>
  <PresentationFormat>와이드스크린</PresentationFormat>
  <Paragraphs>18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TmonMonsori Black</vt:lpstr>
      <vt:lpstr>여기어때 잘난체</vt:lpstr>
      <vt:lpstr>Arial</vt:lpstr>
      <vt:lpstr>Calibri</vt:lpstr>
      <vt:lpstr>업무의 잔머리v4</vt:lpstr>
      <vt:lpstr>PPT를 삼킨 Python</vt:lpstr>
      <vt:lpstr>Python 시작하기 (with PyCharm)</vt:lpstr>
      <vt:lpstr>엑셀을 삼킨 Python (openpyxl)</vt:lpstr>
      <vt:lpstr>Web을 삼킨 Python (selenium)</vt:lpstr>
      <vt:lpstr>Web을 삼킨 Python 2 (Beautifulsoup4)</vt:lpstr>
      <vt:lpstr>Python 으로 보는  고급 엑셀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업무용 매크로 모음 (VBA)</dc:title>
  <dc:creator>이 주석</dc:creator>
  <cp:lastModifiedBy>잔 마왕</cp:lastModifiedBy>
  <cp:revision>60</cp:revision>
  <dcterms:created xsi:type="dcterms:W3CDTF">2019-09-14T04:33:08Z</dcterms:created>
  <dcterms:modified xsi:type="dcterms:W3CDTF">2021-05-11T18:58:03Z</dcterms:modified>
</cp:coreProperties>
</file>